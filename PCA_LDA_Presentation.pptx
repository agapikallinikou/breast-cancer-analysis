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0"/>
  </p:notesMasterIdLst>
  <p:handoutMasterIdLst>
    <p:handoutMasterId r:id="rId21"/>
  </p:handoutMasterIdLst>
  <p:sldIdLst>
    <p:sldId id="257" r:id="rId2"/>
    <p:sldId id="258" r:id="rId3"/>
    <p:sldId id="259" r:id="rId4"/>
    <p:sldId id="272" r:id="rId5"/>
    <p:sldId id="273" r:id="rId6"/>
    <p:sldId id="274" r:id="rId7"/>
    <p:sldId id="275" r:id="rId8"/>
    <p:sldId id="276" r:id="rId9"/>
    <p:sldId id="287" r:id="rId10"/>
    <p:sldId id="288" r:id="rId11"/>
    <p:sldId id="277" r:id="rId12"/>
    <p:sldId id="289" r:id="rId13"/>
    <p:sldId id="290" r:id="rId14"/>
    <p:sldId id="291" r:id="rId15"/>
    <p:sldId id="292" r:id="rId16"/>
    <p:sldId id="293" r:id="rId17"/>
    <p:sldId id="285" r:id="rId18"/>
    <p:sldId id="286" r:id="rId19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11" autoAdjust="0"/>
  </p:normalViewPr>
  <p:slideViewPr>
    <p:cSldViewPr snapToGrid="0">
      <p:cViewPr varScale="1">
        <p:scale>
          <a:sx n="74" d="100"/>
          <a:sy n="74" d="100"/>
        </p:scale>
        <p:origin x="1042" y="43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2" d="100"/>
          <a:sy n="72" d="100"/>
        </p:scale>
        <p:origin x="339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283B46-EA27-46EC-82C5-9627617577C4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950500-AFAE-416F-B8B6-838F55527C34}">
      <dgm:prSet custT="1"/>
      <dgm:spPr/>
      <dgm:t>
        <a:bodyPr/>
        <a:lstStyle/>
        <a:p>
          <a:r>
            <a:rPr lang="el-GR" sz="1800" dirty="0"/>
            <a:t>Διακύμανση</a:t>
          </a:r>
          <a:r>
            <a:rPr lang="el-GR" sz="3700" dirty="0"/>
            <a:t> </a:t>
          </a:r>
          <a:endParaRPr lang="en-US" sz="3700" dirty="0"/>
        </a:p>
      </dgm:t>
    </dgm:pt>
    <dgm:pt modelId="{0F84262B-DE6C-4E84-9507-158D39E90BCE}" type="parTrans" cxnId="{95BDC4E0-2FFB-47DA-8649-F27582586028}">
      <dgm:prSet/>
      <dgm:spPr/>
      <dgm:t>
        <a:bodyPr/>
        <a:lstStyle/>
        <a:p>
          <a:endParaRPr lang="en-US"/>
        </a:p>
      </dgm:t>
    </dgm:pt>
    <dgm:pt modelId="{B2502F26-DE97-4C45-A487-5420C3F01B58}" type="sibTrans" cxnId="{95BDC4E0-2FFB-47DA-8649-F27582586028}">
      <dgm:prSet/>
      <dgm:spPr/>
      <dgm:t>
        <a:bodyPr/>
        <a:lstStyle/>
        <a:p>
          <a:endParaRPr lang="en-US"/>
        </a:p>
      </dgm:t>
    </dgm:pt>
    <dgm:pt modelId="{2015A44F-B5F9-4402-9D28-BEA3A606F599}">
      <dgm:prSet custT="1"/>
      <dgm:spPr/>
      <dgm:t>
        <a:bodyPr/>
        <a:lstStyle/>
        <a:p>
          <a:r>
            <a:rPr lang="el-GR" sz="1500" i="1" dirty="0"/>
            <a:t>Μετρά πόσο διασκορπισμένες είναι οι τιμές μιας μεταβλητής γύρω από τη μέση τιμή της</a:t>
          </a:r>
          <a:endParaRPr lang="en-US" sz="1500" i="1" dirty="0"/>
        </a:p>
      </dgm:t>
    </dgm:pt>
    <dgm:pt modelId="{56F2A42B-A857-46D1-A51F-AB1E34180EA6}" type="parTrans" cxnId="{68DE9079-798F-4E46-8850-2A11F64E7155}">
      <dgm:prSet/>
      <dgm:spPr/>
      <dgm:t>
        <a:bodyPr/>
        <a:lstStyle/>
        <a:p>
          <a:endParaRPr lang="en-US"/>
        </a:p>
      </dgm:t>
    </dgm:pt>
    <dgm:pt modelId="{3D17F085-58D0-4688-9C2F-BBAF1AE0FF08}" type="sibTrans" cxnId="{68DE9079-798F-4E46-8850-2A11F64E7155}">
      <dgm:prSet/>
      <dgm:spPr/>
      <dgm:t>
        <a:bodyPr/>
        <a:lstStyle/>
        <a:p>
          <a:endParaRPr lang="en-US"/>
        </a:p>
      </dgm:t>
    </dgm:pt>
    <dgm:pt modelId="{630B317A-1582-4F14-90B8-392B85C719DB}">
      <dgm:prSet/>
      <dgm:spPr/>
      <dgm:t>
        <a:bodyPr/>
        <a:lstStyle/>
        <a:p>
          <a:r>
            <a:rPr lang="el-GR" dirty="0" err="1"/>
            <a:t>Συνδυακύμανση</a:t>
          </a:r>
          <a:endParaRPr lang="en-US" dirty="0"/>
        </a:p>
      </dgm:t>
    </dgm:pt>
    <dgm:pt modelId="{C41AAFFC-5090-41E5-92D5-CFE408138F73}" type="parTrans" cxnId="{CCBE28ED-67E2-4334-818F-F5D3605F6D36}">
      <dgm:prSet/>
      <dgm:spPr/>
      <dgm:t>
        <a:bodyPr/>
        <a:lstStyle/>
        <a:p>
          <a:endParaRPr lang="en-US"/>
        </a:p>
      </dgm:t>
    </dgm:pt>
    <dgm:pt modelId="{9A291A54-BF6F-4CF0-BC06-C8E2D3E41648}" type="sibTrans" cxnId="{CCBE28ED-67E2-4334-818F-F5D3605F6D36}">
      <dgm:prSet/>
      <dgm:spPr/>
      <dgm:t>
        <a:bodyPr/>
        <a:lstStyle/>
        <a:p>
          <a:endParaRPr lang="en-US"/>
        </a:p>
      </dgm:t>
    </dgm:pt>
    <dgm:pt modelId="{6CBD7F00-0D53-45AA-8F01-70FFC6D46728}">
      <dgm:prSet custT="1"/>
      <dgm:spPr/>
      <dgm:t>
        <a:bodyPr/>
        <a:lstStyle/>
        <a:p>
          <a:pPr>
            <a:buNone/>
          </a:pPr>
          <a:r>
            <a:rPr lang="el-GR" sz="1500" dirty="0"/>
            <a:t>Περιγράφει τον τρόπο με τον οποίο μεταβάλλονται από κοινού δύο μεταβλητές.</a:t>
          </a:r>
          <a:endParaRPr lang="en-US" sz="1500" dirty="0"/>
        </a:p>
      </dgm:t>
    </dgm:pt>
    <dgm:pt modelId="{45FBC731-F451-4DA5-A0D8-BF9CC358D7E5}" type="parTrans" cxnId="{6C569CB1-E465-417D-9FC4-E8A7CB298123}">
      <dgm:prSet/>
      <dgm:spPr/>
      <dgm:t>
        <a:bodyPr/>
        <a:lstStyle/>
        <a:p>
          <a:endParaRPr lang="en-US"/>
        </a:p>
      </dgm:t>
    </dgm:pt>
    <dgm:pt modelId="{325325B6-4217-49D0-89E4-AD7B0D3244A4}" type="sibTrans" cxnId="{6C569CB1-E465-417D-9FC4-E8A7CB298123}">
      <dgm:prSet/>
      <dgm:spPr/>
      <dgm:t>
        <a:bodyPr/>
        <a:lstStyle/>
        <a:p>
          <a:endParaRPr lang="en-US"/>
        </a:p>
      </dgm:t>
    </dgm:pt>
    <dgm:pt modelId="{3AFC87A4-1127-4B7E-9288-A61BDE66C63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l-GR" sz="1500" dirty="0"/>
            <a:t>Θετική: οι μεταβλητές τείνουν να αποκλίνουν προς την ίδια κατεύθυνση.</a:t>
          </a:r>
          <a:endParaRPr lang="en-US" sz="1500" dirty="0"/>
        </a:p>
      </dgm:t>
    </dgm:pt>
    <dgm:pt modelId="{D9848CCC-E23B-425D-852C-1234EE941550}" type="parTrans" cxnId="{A78272E1-CC7F-47B3-9CE4-1B35245B58FA}">
      <dgm:prSet/>
      <dgm:spPr/>
      <dgm:t>
        <a:bodyPr/>
        <a:lstStyle/>
        <a:p>
          <a:endParaRPr lang="el-GR"/>
        </a:p>
      </dgm:t>
    </dgm:pt>
    <dgm:pt modelId="{3CACD5E8-DE77-4C15-9FCA-5B4F0490E54C}" type="sibTrans" cxnId="{A78272E1-CC7F-47B3-9CE4-1B35245B58FA}">
      <dgm:prSet/>
      <dgm:spPr/>
      <dgm:t>
        <a:bodyPr/>
        <a:lstStyle/>
        <a:p>
          <a:endParaRPr lang="el-GR"/>
        </a:p>
      </dgm:t>
    </dgm:pt>
    <dgm:pt modelId="{FCD2AF44-959C-4544-99B1-1236A1701A3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l-GR" sz="1500" dirty="0"/>
            <a:t>Αρνητική: τείνουν να αποκλίνουν προς αντίθετες κατευθύνσεις.</a:t>
          </a:r>
        </a:p>
      </dgm:t>
    </dgm:pt>
    <dgm:pt modelId="{0CA80F05-2A09-43C2-821D-8E2E0047A836}" type="parTrans" cxnId="{909D8937-78E7-4E42-961A-C5141CE0841C}">
      <dgm:prSet/>
      <dgm:spPr/>
      <dgm:t>
        <a:bodyPr/>
        <a:lstStyle/>
        <a:p>
          <a:endParaRPr lang="el-GR"/>
        </a:p>
      </dgm:t>
    </dgm:pt>
    <dgm:pt modelId="{3C23DCA1-8B12-44B9-B9A5-3400E86CA395}" type="sibTrans" cxnId="{909D8937-78E7-4E42-961A-C5141CE0841C}">
      <dgm:prSet/>
      <dgm:spPr/>
      <dgm:t>
        <a:bodyPr/>
        <a:lstStyle/>
        <a:p>
          <a:endParaRPr lang="el-GR"/>
        </a:p>
      </dgm:t>
    </dgm:pt>
    <dgm:pt modelId="{79ABE74D-5735-4304-B91E-390E2FDFE3E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l-GR" sz="1500" dirty="0"/>
            <a:t>Μηδενική: δεν εμφανίζουν γραμμική </a:t>
          </a:r>
          <a:r>
            <a:rPr lang="el-GR" sz="1500" dirty="0" err="1"/>
            <a:t>συνδιακύμανση</a:t>
          </a:r>
          <a:r>
            <a:rPr lang="el-GR" sz="1500" dirty="0"/>
            <a:t>.</a:t>
          </a:r>
        </a:p>
      </dgm:t>
    </dgm:pt>
    <dgm:pt modelId="{139D1ADC-7134-45FC-B1D4-FC208D4CD59C}" type="parTrans" cxnId="{F2A9EBAC-D612-4212-B55E-B5F26F2EE375}">
      <dgm:prSet/>
      <dgm:spPr/>
      <dgm:t>
        <a:bodyPr/>
        <a:lstStyle/>
        <a:p>
          <a:endParaRPr lang="el-GR"/>
        </a:p>
      </dgm:t>
    </dgm:pt>
    <dgm:pt modelId="{5DA7B5F1-85AA-42C9-A870-73EE2FA2EBD3}" type="sibTrans" cxnId="{F2A9EBAC-D612-4212-B55E-B5F26F2EE375}">
      <dgm:prSet/>
      <dgm:spPr/>
      <dgm:t>
        <a:bodyPr/>
        <a:lstStyle/>
        <a:p>
          <a:endParaRPr lang="el-GR"/>
        </a:p>
      </dgm:t>
    </dgm:pt>
    <dgm:pt modelId="{9C7ED1BC-5C95-44A8-ABAF-DBAD9CA2E8D6}" type="pres">
      <dgm:prSet presAssocID="{40283B46-EA27-46EC-82C5-9627617577C4}" presName="linearFlow" presStyleCnt="0">
        <dgm:presLayoutVars>
          <dgm:dir/>
          <dgm:animLvl val="lvl"/>
          <dgm:resizeHandles val="exact"/>
        </dgm:presLayoutVars>
      </dgm:prSet>
      <dgm:spPr/>
    </dgm:pt>
    <dgm:pt modelId="{BA9A7F61-B091-4EC5-A221-36D1422EB35B}" type="pres">
      <dgm:prSet presAssocID="{33950500-AFAE-416F-B8B6-838F55527C34}" presName="composite" presStyleCnt="0"/>
      <dgm:spPr/>
    </dgm:pt>
    <dgm:pt modelId="{E67BA48B-B655-4934-9A9E-5095E5E40026}" type="pres">
      <dgm:prSet presAssocID="{33950500-AFAE-416F-B8B6-838F55527C34}" presName="parentText" presStyleLbl="alignNode1" presStyleIdx="0" presStyleCnt="2" custLinFactNeighborX="-1570" custLinFactNeighborY="-550">
        <dgm:presLayoutVars>
          <dgm:chMax val="1"/>
          <dgm:bulletEnabled val="1"/>
        </dgm:presLayoutVars>
      </dgm:prSet>
      <dgm:spPr/>
    </dgm:pt>
    <dgm:pt modelId="{22139F09-FE88-4071-8CB5-99548B6A8BC4}" type="pres">
      <dgm:prSet presAssocID="{33950500-AFAE-416F-B8B6-838F55527C34}" presName="descendantText" presStyleLbl="alignAcc1" presStyleIdx="0" presStyleCnt="2" custLinFactNeighborX="1672" custLinFactNeighborY="-3042">
        <dgm:presLayoutVars>
          <dgm:bulletEnabled val="1"/>
        </dgm:presLayoutVars>
      </dgm:prSet>
      <dgm:spPr/>
    </dgm:pt>
    <dgm:pt modelId="{82CA778C-A345-408A-98EF-99A26C9F0EDB}" type="pres">
      <dgm:prSet presAssocID="{B2502F26-DE97-4C45-A487-5420C3F01B58}" presName="sp" presStyleCnt="0"/>
      <dgm:spPr/>
    </dgm:pt>
    <dgm:pt modelId="{E315CB0A-FEEB-4B06-B31D-B76190D5495A}" type="pres">
      <dgm:prSet presAssocID="{630B317A-1582-4F14-90B8-392B85C719DB}" presName="composite" presStyleCnt="0"/>
      <dgm:spPr/>
    </dgm:pt>
    <dgm:pt modelId="{10C9B025-4001-4BD8-9903-5543C191D24F}" type="pres">
      <dgm:prSet presAssocID="{630B317A-1582-4F14-90B8-392B85C719DB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59863A9C-58F1-4D9E-AC51-C2DD39F06065}" type="pres">
      <dgm:prSet presAssocID="{630B317A-1582-4F14-90B8-392B85C719DB}" presName="descendantText" presStyleLbl="alignAcc1" presStyleIdx="1" presStyleCnt="2" custLinFactNeighborX="-221" custLinFactNeighborY="1913">
        <dgm:presLayoutVars>
          <dgm:bulletEnabled val="1"/>
        </dgm:presLayoutVars>
      </dgm:prSet>
      <dgm:spPr/>
    </dgm:pt>
  </dgm:ptLst>
  <dgm:cxnLst>
    <dgm:cxn modelId="{0800E410-B4E7-4BE6-9B36-F3D8A734CD4E}" type="presOf" srcId="{79ABE74D-5735-4304-B91E-390E2FDFE3E3}" destId="{59863A9C-58F1-4D9E-AC51-C2DD39F06065}" srcOrd="0" destOrd="3" presId="urn:microsoft.com/office/officeart/2005/8/layout/chevron2"/>
    <dgm:cxn modelId="{909D8937-78E7-4E42-961A-C5141CE0841C}" srcId="{6CBD7F00-0D53-45AA-8F01-70FFC6D46728}" destId="{FCD2AF44-959C-4544-99B1-1236A1701A32}" srcOrd="1" destOrd="0" parTransId="{0CA80F05-2A09-43C2-821D-8E2E0047A836}" sibTransId="{3C23DCA1-8B12-44B9-B9A5-3400E86CA395}"/>
    <dgm:cxn modelId="{75EDB340-C828-46A7-B573-33E097EF67B9}" type="presOf" srcId="{40283B46-EA27-46EC-82C5-9627617577C4}" destId="{9C7ED1BC-5C95-44A8-ABAF-DBAD9CA2E8D6}" srcOrd="0" destOrd="0" presId="urn:microsoft.com/office/officeart/2005/8/layout/chevron2"/>
    <dgm:cxn modelId="{FF73EC45-0117-4D39-98D2-987A657CB511}" type="presOf" srcId="{3AFC87A4-1127-4B7E-9288-A61BDE66C631}" destId="{59863A9C-58F1-4D9E-AC51-C2DD39F06065}" srcOrd="0" destOrd="1" presId="urn:microsoft.com/office/officeart/2005/8/layout/chevron2"/>
    <dgm:cxn modelId="{2A6E9D6E-2846-4F71-86F2-37E4DA4D6A7E}" type="presOf" srcId="{33950500-AFAE-416F-B8B6-838F55527C34}" destId="{E67BA48B-B655-4934-9A9E-5095E5E40026}" srcOrd="0" destOrd="0" presId="urn:microsoft.com/office/officeart/2005/8/layout/chevron2"/>
    <dgm:cxn modelId="{68DE9079-798F-4E46-8850-2A11F64E7155}" srcId="{33950500-AFAE-416F-B8B6-838F55527C34}" destId="{2015A44F-B5F9-4402-9D28-BEA3A606F599}" srcOrd="0" destOrd="0" parTransId="{56F2A42B-A857-46D1-A51F-AB1E34180EA6}" sibTransId="{3D17F085-58D0-4688-9C2F-BBAF1AE0FF08}"/>
    <dgm:cxn modelId="{9DF92091-7ED6-4C06-A89C-FF32E391808C}" type="presOf" srcId="{630B317A-1582-4F14-90B8-392B85C719DB}" destId="{10C9B025-4001-4BD8-9903-5543C191D24F}" srcOrd="0" destOrd="0" presId="urn:microsoft.com/office/officeart/2005/8/layout/chevron2"/>
    <dgm:cxn modelId="{F2A9EBAC-D612-4212-B55E-B5F26F2EE375}" srcId="{6CBD7F00-0D53-45AA-8F01-70FFC6D46728}" destId="{79ABE74D-5735-4304-B91E-390E2FDFE3E3}" srcOrd="2" destOrd="0" parTransId="{139D1ADC-7134-45FC-B1D4-FC208D4CD59C}" sibTransId="{5DA7B5F1-85AA-42C9-A870-73EE2FA2EBD3}"/>
    <dgm:cxn modelId="{06E00FAE-2DCC-45BA-BEC2-A49D2932D313}" type="presOf" srcId="{2015A44F-B5F9-4402-9D28-BEA3A606F599}" destId="{22139F09-FE88-4071-8CB5-99548B6A8BC4}" srcOrd="0" destOrd="0" presId="urn:microsoft.com/office/officeart/2005/8/layout/chevron2"/>
    <dgm:cxn modelId="{6C569CB1-E465-417D-9FC4-E8A7CB298123}" srcId="{630B317A-1582-4F14-90B8-392B85C719DB}" destId="{6CBD7F00-0D53-45AA-8F01-70FFC6D46728}" srcOrd="0" destOrd="0" parTransId="{45FBC731-F451-4DA5-A0D8-BF9CC358D7E5}" sibTransId="{325325B6-4217-49D0-89E4-AD7B0D3244A4}"/>
    <dgm:cxn modelId="{95BDC4E0-2FFB-47DA-8649-F27582586028}" srcId="{40283B46-EA27-46EC-82C5-9627617577C4}" destId="{33950500-AFAE-416F-B8B6-838F55527C34}" srcOrd="0" destOrd="0" parTransId="{0F84262B-DE6C-4E84-9507-158D39E90BCE}" sibTransId="{B2502F26-DE97-4C45-A487-5420C3F01B58}"/>
    <dgm:cxn modelId="{A78272E1-CC7F-47B3-9CE4-1B35245B58FA}" srcId="{6CBD7F00-0D53-45AA-8F01-70FFC6D46728}" destId="{3AFC87A4-1127-4B7E-9288-A61BDE66C631}" srcOrd="0" destOrd="0" parTransId="{D9848CCC-E23B-425D-852C-1234EE941550}" sibTransId="{3CACD5E8-DE77-4C15-9FCA-5B4F0490E54C}"/>
    <dgm:cxn modelId="{CCBE28ED-67E2-4334-818F-F5D3605F6D36}" srcId="{40283B46-EA27-46EC-82C5-9627617577C4}" destId="{630B317A-1582-4F14-90B8-392B85C719DB}" srcOrd="1" destOrd="0" parTransId="{C41AAFFC-5090-41E5-92D5-CFE408138F73}" sibTransId="{9A291A54-BF6F-4CF0-BC06-C8E2D3E41648}"/>
    <dgm:cxn modelId="{F4DCBCF3-53C0-4CB9-AF0D-A8ABB0294C61}" type="presOf" srcId="{6CBD7F00-0D53-45AA-8F01-70FFC6D46728}" destId="{59863A9C-58F1-4D9E-AC51-C2DD39F06065}" srcOrd="0" destOrd="0" presId="urn:microsoft.com/office/officeart/2005/8/layout/chevron2"/>
    <dgm:cxn modelId="{5E4EDCFC-EC5D-45A4-9D71-9DBB5A3DFF5B}" type="presOf" srcId="{FCD2AF44-959C-4544-99B1-1236A1701A32}" destId="{59863A9C-58F1-4D9E-AC51-C2DD39F06065}" srcOrd="0" destOrd="2" presId="urn:microsoft.com/office/officeart/2005/8/layout/chevron2"/>
    <dgm:cxn modelId="{B0050401-0A0C-4E82-B839-545A21A7AD7B}" type="presParOf" srcId="{9C7ED1BC-5C95-44A8-ABAF-DBAD9CA2E8D6}" destId="{BA9A7F61-B091-4EC5-A221-36D1422EB35B}" srcOrd="0" destOrd="0" presId="urn:microsoft.com/office/officeart/2005/8/layout/chevron2"/>
    <dgm:cxn modelId="{2076C18C-D496-4AB6-A610-0E483E308564}" type="presParOf" srcId="{BA9A7F61-B091-4EC5-A221-36D1422EB35B}" destId="{E67BA48B-B655-4934-9A9E-5095E5E40026}" srcOrd="0" destOrd="0" presId="urn:microsoft.com/office/officeart/2005/8/layout/chevron2"/>
    <dgm:cxn modelId="{6FCB1C15-82D2-4290-8B77-3A7C3067A01C}" type="presParOf" srcId="{BA9A7F61-B091-4EC5-A221-36D1422EB35B}" destId="{22139F09-FE88-4071-8CB5-99548B6A8BC4}" srcOrd="1" destOrd="0" presId="urn:microsoft.com/office/officeart/2005/8/layout/chevron2"/>
    <dgm:cxn modelId="{A2A777E1-9F09-4004-8761-1676386D90B0}" type="presParOf" srcId="{9C7ED1BC-5C95-44A8-ABAF-DBAD9CA2E8D6}" destId="{82CA778C-A345-408A-98EF-99A26C9F0EDB}" srcOrd="1" destOrd="0" presId="urn:microsoft.com/office/officeart/2005/8/layout/chevron2"/>
    <dgm:cxn modelId="{9443AB8C-DF81-4D2F-A7FE-928F92C2FD64}" type="presParOf" srcId="{9C7ED1BC-5C95-44A8-ABAF-DBAD9CA2E8D6}" destId="{E315CB0A-FEEB-4B06-B31D-B76190D5495A}" srcOrd="2" destOrd="0" presId="urn:microsoft.com/office/officeart/2005/8/layout/chevron2"/>
    <dgm:cxn modelId="{41DAB2C1-D202-4631-A062-A79A2883A49D}" type="presParOf" srcId="{E315CB0A-FEEB-4B06-B31D-B76190D5495A}" destId="{10C9B025-4001-4BD8-9903-5543C191D24F}" srcOrd="0" destOrd="0" presId="urn:microsoft.com/office/officeart/2005/8/layout/chevron2"/>
    <dgm:cxn modelId="{958CF7ED-B9FF-4C51-B912-CF832C93DA85}" type="presParOf" srcId="{E315CB0A-FEEB-4B06-B31D-B76190D5495A}" destId="{59863A9C-58F1-4D9E-AC51-C2DD39F06065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7BA48B-B655-4934-9A9E-5095E5E40026}">
      <dsp:nvSpPr>
        <dsp:cNvPr id="0" name=""/>
        <dsp:cNvSpPr/>
      </dsp:nvSpPr>
      <dsp:spPr>
        <a:xfrm rot="5400000">
          <a:off x="-379935" y="379935"/>
          <a:ext cx="2532903" cy="17730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800" kern="1200" dirty="0"/>
            <a:t>Διακύμανση</a:t>
          </a:r>
          <a:r>
            <a:rPr lang="el-GR" sz="3700" kern="1200" dirty="0"/>
            <a:t> </a:t>
          </a:r>
          <a:endParaRPr lang="en-US" sz="3700" kern="1200" dirty="0"/>
        </a:p>
      </dsp:txBody>
      <dsp:txXfrm rot="-5400000">
        <a:off x="1" y="886515"/>
        <a:ext cx="1773032" cy="759871"/>
      </dsp:txXfrm>
    </dsp:sp>
    <dsp:sp modelId="{22139F09-FE88-4071-8CB5-99548B6A8BC4}">
      <dsp:nvSpPr>
        <dsp:cNvPr id="0" name=""/>
        <dsp:cNvSpPr/>
      </dsp:nvSpPr>
      <dsp:spPr>
        <a:xfrm rot="5400000">
          <a:off x="3333353" y="-1560320"/>
          <a:ext cx="1646387" cy="47670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1500" i="1" kern="1200" dirty="0"/>
            <a:t>Μετρά πόσο διασκορπισμένες είναι οι τιμές μιας μεταβλητής γύρω από τη μέση τιμή της</a:t>
          </a:r>
          <a:endParaRPr lang="en-US" sz="1500" i="1" kern="1200" dirty="0"/>
        </a:p>
      </dsp:txBody>
      <dsp:txXfrm rot="-5400000">
        <a:off x="1773032" y="80371"/>
        <a:ext cx="4686659" cy="1485647"/>
      </dsp:txXfrm>
    </dsp:sp>
    <dsp:sp modelId="{10C9B025-4001-4BD8-9903-5543C191D24F}">
      <dsp:nvSpPr>
        <dsp:cNvPr id="0" name=""/>
        <dsp:cNvSpPr/>
      </dsp:nvSpPr>
      <dsp:spPr>
        <a:xfrm rot="5400000">
          <a:off x="-379935" y="2633352"/>
          <a:ext cx="2532903" cy="17730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900" kern="1200" dirty="0" err="1"/>
            <a:t>Συνδυακύμανση</a:t>
          </a:r>
          <a:endParaRPr lang="en-US" sz="1900" kern="1200" dirty="0"/>
        </a:p>
      </dsp:txBody>
      <dsp:txXfrm rot="-5400000">
        <a:off x="1" y="3139932"/>
        <a:ext cx="1773032" cy="759871"/>
      </dsp:txXfrm>
    </dsp:sp>
    <dsp:sp modelId="{59863A9C-58F1-4D9E-AC51-C2DD39F06065}">
      <dsp:nvSpPr>
        <dsp:cNvPr id="0" name=""/>
        <dsp:cNvSpPr/>
      </dsp:nvSpPr>
      <dsp:spPr>
        <a:xfrm rot="5400000">
          <a:off x="3322818" y="724590"/>
          <a:ext cx="1646387" cy="47670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l-GR" sz="1500" kern="1200" dirty="0"/>
            <a:t>Περιγράφει τον τρόπο με τον οποίο μεταβάλλονται από κοινού δύο μεταβλητές.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l-GR" sz="1500" kern="1200" dirty="0"/>
            <a:t>Θετική: οι μεταβλητές τείνουν να αποκλίνουν προς την ίδια κατεύθυνση.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l-GR" sz="1500" kern="1200" dirty="0"/>
            <a:t>Αρνητική: τείνουν να αποκλίνουν προς αντίθετες κατευθύνσεις.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l-GR" sz="1500" kern="1200" dirty="0"/>
            <a:t>Μηδενική: δεν εμφανίζουν γραμμική </a:t>
          </a:r>
          <a:r>
            <a:rPr lang="el-GR" sz="1500" kern="1200" dirty="0" err="1"/>
            <a:t>συνδιακύμανση</a:t>
          </a:r>
          <a:r>
            <a:rPr lang="el-GR" sz="1500" kern="1200" dirty="0"/>
            <a:t>.</a:t>
          </a:r>
        </a:p>
      </dsp:txBody>
      <dsp:txXfrm rot="-5400000">
        <a:off x="1762497" y="2365281"/>
        <a:ext cx="4686659" cy="14856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l-GR" dirty="0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E4CE4DA-22AE-442E-AC9C-92F214E4916F}" type="datetime1">
              <a:rPr lang="el-GR" smtClean="0"/>
              <a:t>28/10/2026</a:t>
            </a:fld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l-GR" dirty="0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el-GR" smtClean="0"/>
              <a:t>‹#›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l-GR" noProof="0" dirty="0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41765FF-9287-4A7A-B1E0-3A22CE3F062E}" type="datetime1">
              <a:rPr lang="el-GR" noProof="0" smtClean="0"/>
              <a:t>28/10/2026</a:t>
            </a:fld>
            <a:endParaRPr lang="el-GR" noProof="0" dirty="0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l-GR" noProof="0" dirty="0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l-GR" noProof="0" dirty="0"/>
              <a:t>Στυλ υποδείγματος κειμένου</a:t>
            </a:r>
          </a:p>
          <a:p>
            <a:pPr lvl="1" rtl="0"/>
            <a:r>
              <a:rPr lang="el-GR" noProof="0" dirty="0"/>
              <a:t>Δεύτερου επιπέδου</a:t>
            </a:r>
          </a:p>
          <a:p>
            <a:pPr lvl="2" rtl="0"/>
            <a:r>
              <a:rPr lang="el-GR" noProof="0" dirty="0"/>
              <a:t>Τρίτου επιπέδου</a:t>
            </a:r>
          </a:p>
          <a:p>
            <a:pPr lvl="3" rtl="0"/>
            <a:r>
              <a:rPr lang="el-GR" noProof="0" dirty="0"/>
              <a:t>Τέταρτου επιπέδου</a:t>
            </a:r>
          </a:p>
          <a:p>
            <a:pPr lvl="4" rtl="0"/>
            <a:r>
              <a:rPr lang="el-GR" noProof="0" dirty="0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l-GR" noProof="0" dirty="0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el-GR" noProof="0" smtClean="0"/>
              <a:t>‹#›</a:t>
            </a:fld>
            <a:endParaRPr lang="el-GR" noProof="0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l-GR" smtClean="0"/>
              <a:t>1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Με ποιο τρόπο η παρουσίαση θα ωφελήσει το ακροατήριο: Οι ενήλικες εκπαιδευόμενοι ενδιαφέρονται περισσότερο για ένα θέμα εάν γνωρίζουν με ποιο τρόπο ή γιατί αυτό είναι σημαντικό για τους ίδιους.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Το επίπεδο εξειδίκευσης του παρουσιαστή σε σχέση με το θέμα. Αναφέρετε εν συντομία τα διαπιστευτήριά σας στον τομέα ή εξηγήστε στους συμμετέχοντες γιατί πρέπει να σας ακούσουν.</a:t>
            </a:r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l-GR" smtClean="0"/>
              <a:t>2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18867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l-GR" dirty="0"/>
              <a:t>Οι περιγραφές των μαθημάτων πρέπει να είναι σύντομες.</a:t>
            </a:r>
          </a:p>
          <a:p>
            <a:pPr rtl="0"/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l-GR" smtClean="0"/>
              <a:t>3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955871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1C54B-27EA-D9E9-8DF1-130C23F42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DDA4225-86CD-4986-EAC7-7F9F410DD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B0C99C8-733B-5D11-67FA-DADA8EC0F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Με ποιο τρόπο η παρουσίαση θα ωφελήσει το ακροατήριο: Οι ενήλικες εκπαιδευόμενοι ενδιαφέρονται περισσότερο για ένα θέμα εάν γνωρίζουν με ποιο τρόπο ή γιατί αυτό είναι σημαντικό για τους ίδιους.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Το επίπεδο εξειδίκευσης του παρουσιαστή σε σχέση με το θέμα. Αναφέρετε εν συντομία τα διαπιστευτήριά σας στον τομέα ή εξηγήστε στους συμμετέχοντες γιατί πρέπει να σας ακούσουν.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1698E50-53EA-631E-5512-517E187E4A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l-GR" smtClean="0"/>
              <a:t>4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144582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143E2-A673-767E-9C85-88D82E5B9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DED2AC2-2758-D83D-D51E-E27E6BD6D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263B5111-E4DE-99AA-06CF-B67146E4B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Με ποιο τρόπο η παρουσίαση θα ωφελήσει το ακροατήριο: Οι ενήλικες εκπαιδευόμενοι ενδιαφέρονται περισσότερο για ένα θέμα εάν γνωρίζουν με ποιο τρόπο ή γιατί αυτό είναι σημαντικό για τους ίδιους.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Το επίπεδο εξειδίκευσης του παρουσιαστή σε σχέση με το θέμα. Αναφέρετε εν συντομία τα διαπιστευτήριά σας στον τομέα ή εξηγήστε στους συμμετέχοντες γιατί πρέπει να σας ακούσουν.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DCD8D9E-192E-EAF4-EDFA-ADC672B1C3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l-GR" smtClean="0"/>
              <a:t>5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378479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4E683-D472-1791-F1A6-DA5BBCF46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C1D10F3-C9B6-B396-00A6-7B4D53EDA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BB7C7E4D-207C-1577-0BBB-5912FDA01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Με ποιο τρόπο η παρουσίαση θα ωφελήσει το ακροατήριο: Οι ενήλικες εκπαιδευόμενοι ενδιαφέρονται περισσότερο για ένα θέμα εάν γνωρίζουν με ποιο τρόπο ή γιατί αυτό είναι σημαντικό για τους ίδιους.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Το επίπεδο εξειδίκευσης του παρουσιαστή σε σχέση με το θέμα. Αναφέρετε εν συντομία τα διαπιστευτήριά σας στον τομέα ή εξηγήστε στους συμμετέχοντες γιατί πρέπει να σας ακούσουν.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4A66F8CC-73D7-3D1E-CE0F-B7619CF234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l-GR" smtClean="0"/>
              <a:t>6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771683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F00CE-2E20-09F7-B776-D6253EABC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84A17824-D8F5-1ED5-AEA2-54BB303F4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D2E8A83-16BD-CC59-987C-AA73F4D10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Με ποιο τρόπο η παρουσίαση θα ωφελήσει το ακροατήριο: Οι ενήλικες εκπαιδευόμενοι ενδιαφέρονται περισσότερο για ένα θέμα εάν γνωρίζουν με ποιο τρόπο ή γιατί αυτό είναι σημαντικό για τους ίδιους.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Το επίπεδο εξειδίκευσης του παρουσιαστή σε σχέση με το θέμα. Αναφέρετε εν συντομία τα διαπιστευτήριά σας στον τομέα ή εξηγήστε στους συμμετέχοντες γιατί πρέπει να σας ακούσουν.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94CE388-C971-E895-EDFC-4FB13A8785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l-GR" smtClean="0"/>
              <a:t>7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705319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6B14E-7A50-A3A3-61E0-CAE0EDFB7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AE7F4349-21DC-4CDC-A503-DD0AB9EC3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DC9D06C1-919F-1297-A420-BDFD628BB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Με ποιο τρόπο η παρουσίαση θα ωφελήσει το ακροατήριο: Οι ενήλικες εκπαιδευόμενοι ενδιαφέρονται περισσότερο για ένα θέμα εάν γνωρίζουν με ποιο τρόπο ή γιατί αυτό είναι σημαντικό για τους ίδιους.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Το επίπεδο εξειδίκευσης του παρουσιαστή σε σχέση με το θέμα. Αναφέρετε εν συντομία τα διαπιστευτήριά σας στον τομέα ή εξηγήστε στους συμμετέχοντες γιατί πρέπει να σας ακούσουν.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DB1C188D-AF9C-5774-EF40-90C2AE5B63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l-GR" smtClean="0"/>
              <a:t>8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989834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AE80B-2DB3-B998-5623-FD68277A8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8F8790E-3556-C160-6AAC-34A43B309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391724D-8A77-74D7-1169-23298610E3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Με ποιο τρόπο η παρουσίαση θα ωφελήσει το ακροατήριο: Οι ενήλικες εκπαιδευόμενοι ενδιαφέρονται περισσότερο για ένα θέμα εάν γνωρίζουν με ποιο τρόπο ή γιατί αυτό είναι σημαντικό για τους ίδιους.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Το επίπεδο εξειδίκευσης του παρουσιαστή σε σχέση με το θέμα. Αναφέρετε εν συντομία τα διαπιστευτήριά σας στον τομέα ή εξηγήστε στους συμμετέχοντες γιατί πρέπει να σας ακούσουν.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00BD1D6-4E3C-98BA-EF1B-5E93CB8B53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l-GR" smtClean="0"/>
              <a:t>9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367791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0DDC9-4439-4111-C854-47406FB00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F97390D-4E07-AFAE-46F4-B5470078C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A6E18C9F-F5DB-FF37-B998-12918DE0A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Με ποιο τρόπο η παρουσίαση θα ωφελήσει το ακροατήριο: Οι ενήλικες εκπαιδευόμενοι ενδιαφέρονται περισσότερο για ένα θέμα εάν γνωρίζουν με ποιο τρόπο ή γιατί αυτό είναι σημαντικό για τους ίδιους.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Το επίπεδο εξειδίκευσης του παρουσιαστή σε σχέση με το θέμα. Αναφέρετε εν συντομία τα διαπιστευτήριά σας στον τομέα ή εξηγήστε στους συμμετέχοντες γιατί πρέπει να σας ακούσουν.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606CA11C-EF11-F52D-C4A9-05BDD9C610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l-GR" smtClean="0"/>
              <a:t>10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0622833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74622-2DF0-A24D-6A00-514EC96B3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51061CC9-FC2B-A788-E1F5-236B56716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9DEC7472-AC65-1051-FA88-DED9A4B7D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Με ποιο τρόπο η παρουσίαση θα ωφελήσει το ακροατήριο: Οι ενήλικες εκπαιδευόμενοι ενδιαφέρονται περισσότερο για ένα θέμα εάν γνωρίζουν με ποιο τρόπο ή γιατί αυτό είναι σημαντικό για τους ίδιους.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Το επίπεδο εξειδίκευσης του παρουσιαστή σε σχέση με το θέμα. Αναφέρετε εν συντομία τα διαπιστευτήριά σας στον τομέα ή εξηγήστε στους συμμετέχοντες γιατί πρέπει να σας ακούσουν.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E4429C3-EB8D-46F1-BBAB-E737E84182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l-GR" smtClean="0"/>
              <a:t>11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0898148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B9DEA-42C9-B8A5-7BDD-926573748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C57213FD-0E5B-62ED-5286-88E3176BE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6C2712F5-C11D-D20D-B399-6413E19C8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Με ποιο τρόπο η παρουσίαση θα ωφελήσει το ακροατήριο: Οι ενήλικες εκπαιδευόμενοι ενδιαφέρονται περισσότερο για ένα θέμα εάν γνωρίζουν με ποιο τρόπο ή γιατί αυτό είναι σημαντικό για τους ίδιους.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Το επίπεδο εξειδίκευσης του παρουσιαστή σε σχέση με το θέμα. Αναφέρετε εν συντομία τα διαπιστευτήριά σας στον τομέα ή εξηγήστε στους συμμετέχοντες γιατί πρέπει να σας ακούσουν.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B95A566-524D-832B-A082-A93D741575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l-GR" smtClean="0"/>
              <a:t>12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525371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E2916-59C6-B7F0-C34D-A8CD1FC26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61B5B63-3936-C9C4-118A-4612DA87D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0E0414B-AE30-79C0-48F0-BFCAE40EA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Με ποιο τρόπο η παρουσίαση θα ωφελήσει το ακροατήριο: Οι ενήλικες εκπαιδευόμενοι ενδιαφέρονται περισσότερο για ένα θέμα εάν γνωρίζουν με ποιο τρόπο ή γιατί αυτό είναι σημαντικό για τους ίδιους.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Το επίπεδο εξειδίκευσης του παρουσιαστή σε σχέση με το θέμα. Αναφέρετε εν συντομία τα διαπιστευτήριά σας στον τομέα ή εξηγήστε στους συμμετέχοντες γιατί πρέπει να σας ακούσουν.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1015679B-D6F2-64C3-4E35-BBE72E7E8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l-GR" smtClean="0"/>
              <a:t>13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2260250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E15E8-10CE-9D54-B011-0CB5F1F78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69CC0E2-EBB1-9444-64B1-AF0390D7A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3D1FC692-E6EC-515C-15AB-D5D523FEF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Με ποιο τρόπο η παρουσίαση θα ωφελήσει το ακροατήριο: Οι ενήλικες εκπαιδευόμενοι ενδιαφέρονται περισσότερο για ένα θέμα εάν γνωρίζουν με ποιο τρόπο ή γιατί αυτό είναι σημαντικό για τους ίδιους.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Το επίπεδο εξειδίκευσης του παρουσιαστή σε σχέση με το θέμα. Αναφέρετε εν συντομία τα διαπιστευτήριά σας στον τομέα ή εξηγήστε στους συμμετέχοντες γιατί πρέπει να σας ακούσουν.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5F54C8D-C508-1152-27F5-7F05088919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l-GR" smtClean="0"/>
              <a:t>14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162534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007E6-C886-6298-0C7A-7C4BD9BC5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43F316A5-628A-D222-F5D6-5FB73BD41C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1440EB63-91C2-95D3-3B77-A9C7D0454E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Με ποιο τρόπο η παρουσίαση θα ωφελήσει το ακροατήριο: Οι ενήλικες εκπαιδευόμενοι ενδιαφέρονται περισσότερο για ένα θέμα εάν γνωρίζουν με ποιο τρόπο ή γιατί αυτό είναι σημαντικό για τους ίδιους.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Το επίπεδο εξειδίκευσης του παρουσιαστή σε σχέση με το θέμα. Αναφέρετε εν συντομία τα διαπιστευτήριά σας στον τομέα ή εξηγήστε στους συμμετέχοντες γιατί πρέπει να σας ακούσουν.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3D2AE138-DFA2-5802-4231-6B3AB726E1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l-GR" smtClean="0"/>
              <a:t>15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2470430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E23BD-AAEB-8BD2-18DC-19E507F04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DFA017C8-19DC-9B49-6A8D-9411C857F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A5BB0E87-DB11-305C-E058-5C245DFD1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Με ποιο τρόπο η παρουσίαση θα ωφελήσει το ακροατήριο: Οι ενήλικες εκπαιδευόμενοι ενδιαφέρονται περισσότερο για ένα θέμα εάν γνωρίζουν με ποιο τρόπο ή γιατί αυτό είναι σημαντικό για τους ίδιους.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Το επίπεδο εξειδίκευσης του παρουσιαστή σε σχέση με το θέμα. Αναφέρετε εν συντομία τα διαπιστευτήριά σας στον τομέα ή εξηγήστε στους συμμετέχοντες γιατί πρέπει να σας ακούσουν.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83E8DF7F-3BC7-FEF5-AC76-D8A27199DA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l-GR" smtClean="0"/>
              <a:t>16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1980563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0C22E-B90E-F872-804E-6D3B91C2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2BA3FAEE-9FB0-D492-98B8-9CC632156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97DA1571-0B29-C27A-AFB2-80BAC25D1B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Με ποιο τρόπο η παρουσίαση θα ωφελήσει το ακροατήριο: Οι ενήλικες εκπαιδευόμενοι ενδιαφέρονται περισσότερο για ένα θέμα εάν γνωρίζουν με ποιο τρόπο ή γιατί αυτό είναι σημαντικό για τους ίδιους.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Το επίπεδο εξειδίκευσης του παρουσιαστή σε σχέση με το θέμα. Αναφέρετε εν συντομία τα διαπιστευτήριά σας στον τομέα ή εξηγήστε στους συμμετέχοντες γιατί πρέπει να σας ακούσουν.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64BF767-2113-B7EF-CFFF-3E21D0473C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l-GR" smtClean="0"/>
              <a:t>17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100437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14DC8-24E6-390F-146E-5D6060A6B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>
            <a:extLst>
              <a:ext uri="{FF2B5EF4-FFF2-40B4-BE49-F238E27FC236}">
                <a16:creationId xmlns:a16="http://schemas.microsoft.com/office/drawing/2014/main" id="{0CDDB8B9-F887-CD3B-C6B7-688DC34A4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>
            <a:extLst>
              <a:ext uri="{FF2B5EF4-FFF2-40B4-BE49-F238E27FC236}">
                <a16:creationId xmlns:a16="http://schemas.microsoft.com/office/drawing/2014/main" id="{F82514FD-086C-12FF-CA53-CFA6F0E0A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Με ποιο τρόπο η παρουσίαση θα ωφελήσει το ακροατήριο: Οι ενήλικες εκπαιδευόμενοι ενδιαφέρονται περισσότερο για ένα θέμα εάν γνωρίζουν με ποιο τρόπο ή γιατί αυτό είναι σημαντικό για τους ίδιους.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el-GR" dirty="0"/>
              <a:t>Το επίπεδο εξειδίκευσης του παρουσιαστή σε σχέση με το θέμα. Αναφέρετε εν συντομία τα διαπιστευτήριά σας στον τομέα ή εξηγήστε στους συμμετέχοντες γιατί πρέπει να σας ακούσουν.</a:t>
            </a:r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B590F8CA-934F-93D7-9C33-36AE16C5ED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l-GR" smtClean="0"/>
              <a:t>18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355164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8F1F7FE-E859-C0B6-8E52-4D8FB357B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C9279AAE-610D-4B34-7CC6-2E3DB18A6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274C724-5F0E-2BFE-6A2A-CE3C3DE61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AFCCDD6-6E69-4DAB-AA9C-FB54F783E5B5}" type="datetime1">
              <a:rPr lang="el-GR" noProof="0" smtClean="0"/>
              <a:t>28/10/2026</a:t>
            </a:fld>
            <a:endParaRPr lang="el-GR" noProof="0" dirty="0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DA8C606-498D-5D70-99A6-2AF5D86FC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l-GR" noProof="0"/>
              <a:t>Προσθήκη υποσέλιδου</a:t>
            </a:r>
            <a:endParaRPr lang="el-GR" noProof="0" dirty="0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6E41C354-5875-5260-DA0A-456477354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l-GR" noProof="0" smtClean="0"/>
              <a:t>‹#›</a:t>
            </a:fld>
            <a:endParaRPr lang="el-GR" noProof="0" dirty="0"/>
          </a:p>
        </p:txBody>
      </p:sp>
    </p:spTree>
    <p:extLst>
      <p:ext uri="{BB962C8B-B14F-4D97-AF65-F5344CB8AC3E}">
        <p14:creationId xmlns:p14="http://schemas.microsoft.com/office/powerpoint/2010/main" val="3032432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481F8BB-D05F-9E69-94E7-79AC5F7D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6404D8F0-7A46-2E73-93F6-A0E263321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566E8DE-BE62-03F8-3736-0C8A45F56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4E987BD-D86C-4F90-840D-029B5B0D5166}" type="datetime1">
              <a:rPr lang="el-GR" noProof="0" smtClean="0"/>
              <a:t>28/10/2026</a:t>
            </a:fld>
            <a:endParaRPr lang="el-GR" noProof="0" dirty="0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78930141-179D-5283-9496-41AFFBBCA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l-GR" noProof="0"/>
              <a:t>Προσθήκη υποσέλιδου</a:t>
            </a:r>
            <a:endParaRPr lang="el-GR" noProof="0" dirty="0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6932FF8-87DA-179F-CF7A-C3AB01FD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l-GR" noProof="0" smtClean="0"/>
              <a:t>‹#›</a:t>
            </a:fld>
            <a:endParaRPr lang="el-GR" noProof="0" dirty="0"/>
          </a:p>
        </p:txBody>
      </p:sp>
    </p:spTree>
    <p:extLst>
      <p:ext uri="{BB962C8B-B14F-4D97-AF65-F5344CB8AC3E}">
        <p14:creationId xmlns:p14="http://schemas.microsoft.com/office/powerpoint/2010/main" val="3639730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4FC5D3C-9AC2-97E3-A73C-0AC6D3BA0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566ABB60-C62F-ADD6-DF7B-38B8FA8DE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3C16073-8FA8-D42F-3EE0-7E50896B1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D08FD8B-C90A-4814-933D-82CA745BBBCB}" type="datetime1">
              <a:rPr lang="el-GR" noProof="0" smtClean="0"/>
              <a:t>28/10/2026</a:t>
            </a:fld>
            <a:endParaRPr lang="el-GR" noProof="0" dirty="0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81E8127-472D-D5E2-93EA-7635FEABA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l-GR" noProof="0"/>
              <a:t>Προσθήκη υποσέλιδου</a:t>
            </a:r>
            <a:endParaRPr lang="el-GR" noProof="0" dirty="0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9422C5EA-7DCF-1B50-5D9B-089D29502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l-GR" noProof="0" smtClean="0"/>
              <a:t>‹#›</a:t>
            </a:fld>
            <a:endParaRPr lang="el-GR" noProof="0" dirty="0"/>
          </a:p>
        </p:txBody>
      </p:sp>
    </p:spTree>
    <p:extLst>
      <p:ext uri="{BB962C8B-B14F-4D97-AF65-F5344CB8AC3E}">
        <p14:creationId xmlns:p14="http://schemas.microsoft.com/office/powerpoint/2010/main" val="386996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5A4CC5A-3587-82AA-172B-73EA4E3C0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676D846A-98E9-2862-E568-8943E0F06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E7F5D5B7-8AFC-6395-A17C-D6003B758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84ED954-C568-F41B-F52A-6C0B5A3AE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F718ADF-E857-4F21-A81D-97F68CD96C68}" type="datetime1">
              <a:rPr lang="el-GR" noProof="0" smtClean="0"/>
              <a:t>28/10/2026</a:t>
            </a:fld>
            <a:endParaRPr lang="el-GR" noProof="0" dirty="0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7A3654FB-EBB8-1A70-2DDC-D98D4F747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l-GR" noProof="0"/>
              <a:t>Προσθήκη υποσέλιδου</a:t>
            </a:r>
            <a:endParaRPr lang="el-GR" noProof="0" dirty="0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8C42FFC4-0108-80C2-A760-084FF85D3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l-GR" noProof="0" smtClean="0"/>
              <a:t>‹#›</a:t>
            </a:fld>
            <a:endParaRPr lang="el-GR" noProof="0" dirty="0"/>
          </a:p>
        </p:txBody>
      </p:sp>
    </p:spTree>
    <p:extLst>
      <p:ext uri="{BB962C8B-B14F-4D97-AF65-F5344CB8AC3E}">
        <p14:creationId xmlns:p14="http://schemas.microsoft.com/office/powerpoint/2010/main" val="454342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12D1CA8-E0A5-93B7-897D-FAC55BAA8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EC93ECD3-F623-9CA0-8D89-C485B09A1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4BC75EC0-CEAC-9F18-9D03-1F17B7D56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DF85589A-8EC4-E526-66B6-E7679439F4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7DB6D3AC-E03C-880E-FC7C-A964224A6D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C2AD2C4A-29D1-41FC-D8F0-97288F4C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523F185-359C-4B85-9499-787CBA1D5A75}" type="datetime1">
              <a:rPr lang="el-GR" noProof="0" smtClean="0"/>
              <a:t>28/10/2026</a:t>
            </a:fld>
            <a:endParaRPr lang="el-GR" noProof="0" dirty="0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DBBDECE9-EA4E-BC77-A6D3-0BF14B66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l-GR" noProof="0"/>
              <a:t>Προσθήκη υποσέλιδου</a:t>
            </a:r>
            <a:endParaRPr lang="el-GR" noProof="0" dirty="0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ADC2A50F-4407-82EE-079A-173DDA733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l-GR" noProof="0" smtClean="0"/>
              <a:t>‹#›</a:t>
            </a:fld>
            <a:endParaRPr lang="el-GR" noProof="0" dirty="0"/>
          </a:p>
        </p:txBody>
      </p:sp>
    </p:spTree>
    <p:extLst>
      <p:ext uri="{BB962C8B-B14F-4D97-AF65-F5344CB8AC3E}">
        <p14:creationId xmlns:p14="http://schemas.microsoft.com/office/powerpoint/2010/main" val="117186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D387DAC-9718-FC3C-E661-C432532B7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800EE48D-D76E-ABF3-D5D4-34A8F934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92AA6E9-5537-4F6B-AF24-CE87CFABB2FE}" type="datetime1">
              <a:rPr lang="el-GR" noProof="0" smtClean="0"/>
              <a:t>28/10/2026</a:t>
            </a:fld>
            <a:endParaRPr lang="el-GR" noProof="0" dirty="0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878327BD-38FF-A547-93EF-93EF4843D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l-GR" noProof="0"/>
              <a:t>Προσθήκη υποσέλιδου</a:t>
            </a:r>
            <a:endParaRPr lang="el-GR" noProof="0" dirty="0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297ADE72-4DB6-9888-1FD9-8992E47C8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l-GR" noProof="0" smtClean="0"/>
              <a:t>‹#›</a:t>
            </a:fld>
            <a:endParaRPr lang="el-GR" noProof="0" dirty="0"/>
          </a:p>
        </p:txBody>
      </p:sp>
    </p:spTree>
    <p:extLst>
      <p:ext uri="{BB962C8B-B14F-4D97-AF65-F5344CB8AC3E}">
        <p14:creationId xmlns:p14="http://schemas.microsoft.com/office/powerpoint/2010/main" val="175287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8FF1D7C1-334B-F11A-6719-393F5868E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A96F4DC-7CA3-4BB1-A0B7-D6BFD97F0CE4}" type="datetime1">
              <a:rPr lang="el-GR" noProof="0" smtClean="0"/>
              <a:t>28/10/2026</a:t>
            </a:fld>
            <a:endParaRPr lang="el-GR" noProof="0" dirty="0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A3AAC202-F545-E4B6-89B1-9B8CCED11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l-GR" noProof="0"/>
              <a:t>Προσθήκη υποσέλιδου</a:t>
            </a:r>
            <a:endParaRPr lang="el-GR" noProof="0" dirty="0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FB3AA626-B066-EFD8-A69A-32141EA3A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l-GR" noProof="0" smtClean="0"/>
              <a:t>‹#›</a:t>
            </a:fld>
            <a:endParaRPr lang="el-GR" noProof="0" dirty="0"/>
          </a:p>
        </p:txBody>
      </p:sp>
    </p:spTree>
    <p:extLst>
      <p:ext uri="{BB962C8B-B14F-4D97-AF65-F5344CB8AC3E}">
        <p14:creationId xmlns:p14="http://schemas.microsoft.com/office/powerpoint/2010/main" val="408963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168F34C-36C0-9511-6FD3-5876B8596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7CC165E-86C2-2CF9-7A5E-0E8D871C2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93055969-A515-5F71-1BBD-64B94D10D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FE01747-54DF-B58F-1F5C-41D6BA98B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AEEF394-60AA-42E5-BBA6-785914B12B3E}" type="datetime1">
              <a:rPr lang="el-GR" noProof="0" smtClean="0"/>
              <a:t>28/10/2026</a:t>
            </a:fld>
            <a:endParaRPr lang="el-GR" noProof="0" dirty="0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668266B4-2F67-453B-9BAF-3BC854AC6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l-GR" noProof="0"/>
              <a:t>Προσθήκη υποσέλιδου</a:t>
            </a:r>
            <a:endParaRPr lang="el-GR" noProof="0" dirty="0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02B1B2FA-E1A0-629A-7685-091379F73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l-GR" noProof="0" smtClean="0"/>
              <a:t>‹#›</a:t>
            </a:fld>
            <a:endParaRPr lang="el-GR" noProof="0" dirty="0"/>
          </a:p>
        </p:txBody>
      </p:sp>
    </p:spTree>
    <p:extLst>
      <p:ext uri="{BB962C8B-B14F-4D97-AF65-F5344CB8AC3E}">
        <p14:creationId xmlns:p14="http://schemas.microsoft.com/office/powerpoint/2010/main" val="286624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E227AA3-D4A4-C397-8B17-0BFBBB5A7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BC27A1EE-1751-6243-40CE-A1BC1574189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B13899FF-D41B-D863-09D3-754635CA1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EDE51751-4C69-3EF9-81F0-3B7E7B44B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BF9933F-5606-408E-9CA3-40EE5E1D4EDD}" type="datetime1">
              <a:rPr lang="el-GR" noProof="0" smtClean="0"/>
              <a:t>28/10/2026</a:t>
            </a:fld>
            <a:endParaRPr lang="el-GR" noProof="0" dirty="0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FA0CE41-76B2-2CFE-AE06-B0A3A6FC6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l-GR" noProof="0"/>
              <a:t>Προσθήκη υποσέλιδου</a:t>
            </a:r>
            <a:endParaRPr lang="el-GR" noProof="0" dirty="0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65394B3E-EC9F-A8A8-1730-FA6993579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l-GR" noProof="0" smtClean="0"/>
              <a:t>‹#›</a:t>
            </a:fld>
            <a:endParaRPr lang="el-GR" noProof="0" dirty="0"/>
          </a:p>
        </p:txBody>
      </p:sp>
    </p:spTree>
    <p:extLst>
      <p:ext uri="{BB962C8B-B14F-4D97-AF65-F5344CB8AC3E}">
        <p14:creationId xmlns:p14="http://schemas.microsoft.com/office/powerpoint/2010/main" val="78971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A2B7E9E-91E5-9FDD-D2BD-210E5BACF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3800B496-912D-C356-4A54-0CEBC5365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A21751D-9EE3-8EC2-463C-C4A7D1D46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765B0B5-24AB-4F94-A830-10E885314E42}" type="datetime1">
              <a:rPr lang="el-GR" noProof="0" smtClean="0"/>
              <a:t>28/10/2026</a:t>
            </a:fld>
            <a:endParaRPr lang="el-GR" noProof="0" dirty="0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A4D3E585-B7E3-F782-B5A6-F77D64BB9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l-GR" noProof="0"/>
              <a:t>Προσθήκη υποσέλιδου</a:t>
            </a:r>
            <a:endParaRPr lang="el-GR" noProof="0" dirty="0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D0863DF3-6321-3313-5188-2DF9B89B9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l-GR" noProof="0" smtClean="0"/>
              <a:t>‹#›</a:t>
            </a:fld>
            <a:endParaRPr lang="el-GR" noProof="0" dirty="0"/>
          </a:p>
        </p:txBody>
      </p:sp>
    </p:spTree>
    <p:extLst>
      <p:ext uri="{BB962C8B-B14F-4D97-AF65-F5344CB8AC3E}">
        <p14:creationId xmlns:p14="http://schemas.microsoft.com/office/powerpoint/2010/main" val="8369835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80FD341C-022C-68B6-FF58-C4993BA83C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3A0E7DCE-F131-A792-7EA2-9447CBE4CB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A6FEB97-CEB9-BA81-D86F-E5F0BA7F5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765B0B5-24AB-4F94-A830-10E885314E42}" type="datetime1">
              <a:rPr lang="el-GR" noProof="0" smtClean="0"/>
              <a:t>28/10/2026</a:t>
            </a:fld>
            <a:endParaRPr lang="el-GR" noProof="0" dirty="0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6209F98-EE4D-DBFF-BEB8-5E0BAF9A8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l-GR" noProof="0"/>
              <a:t>Προσθήκη υποσέλιδου</a:t>
            </a:r>
            <a:endParaRPr lang="el-GR" noProof="0" dirty="0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946CC174-D96F-7FFF-173F-7160A85F3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01CF334-2D5C-4859-84A6-CA7E6E43FAEB}" type="slidenum">
              <a:rPr lang="el-GR" noProof="0" smtClean="0"/>
              <a:t>‹#›</a:t>
            </a:fld>
            <a:endParaRPr lang="el-GR" noProof="0" dirty="0"/>
          </a:p>
        </p:txBody>
      </p:sp>
    </p:spTree>
    <p:extLst>
      <p:ext uri="{BB962C8B-B14F-4D97-AF65-F5344CB8AC3E}">
        <p14:creationId xmlns:p14="http://schemas.microsoft.com/office/powerpoint/2010/main" val="81177652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4A030939-3579-13D4-9408-923CD2A8B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18E5EDBD-EC99-6360-411D-0FC846C86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A69E7AC-128D-5EAF-CC0C-4AA72EFFAB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8765B0B5-24AB-4F94-A830-10E885314E42}" type="datetime1">
              <a:rPr lang="el-GR" noProof="0" smtClean="0"/>
              <a:t>28/10/2026</a:t>
            </a:fld>
            <a:endParaRPr lang="el-GR" noProof="0" dirty="0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590528C-66B4-4393-AE66-5E618F677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r>
              <a:rPr lang="el-GR" noProof="0"/>
              <a:t>Προσθήκη υποσέλιδου</a:t>
            </a:r>
            <a:endParaRPr lang="el-GR" noProof="0" dirty="0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25B0883-C22A-E74D-0A50-F8C0DCF7B3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401CF334-2D5C-4859-84A6-CA7E6E43FAEB}" type="slidenum">
              <a:rPr lang="el-GR" noProof="0" smtClean="0"/>
              <a:t>‹#›</a:t>
            </a:fld>
            <a:endParaRPr lang="el-GR" noProof="0" dirty="0"/>
          </a:p>
        </p:txBody>
      </p:sp>
    </p:spTree>
    <p:extLst>
      <p:ext uri="{BB962C8B-B14F-4D97-AF65-F5344CB8AC3E}">
        <p14:creationId xmlns:p14="http://schemas.microsoft.com/office/powerpoint/2010/main" val="3346671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4141302" y="1297563"/>
            <a:ext cx="6714699" cy="3178689"/>
          </a:xfrm>
        </p:spPr>
        <p:txBody>
          <a:bodyPr rtlCol="0">
            <a:normAutofit/>
          </a:bodyPr>
          <a:lstStyle/>
          <a:p>
            <a:pPr algn="l"/>
            <a:r>
              <a:rPr lang="el-GR" sz="4800" dirty="0">
                <a:solidFill>
                  <a:srgbClr val="FFFFFF"/>
                </a:solidFill>
              </a:rPr>
              <a:t>Ανάλυση και Συγκριτική Μελέτη των</a:t>
            </a:r>
            <a:br>
              <a:rPr lang="el-GR" sz="4800" dirty="0">
                <a:solidFill>
                  <a:srgbClr val="FFFFFF"/>
                </a:solidFill>
              </a:rPr>
            </a:br>
            <a:r>
              <a:rPr lang="el-GR" sz="4800" dirty="0">
                <a:solidFill>
                  <a:srgbClr val="FFFFFF"/>
                </a:solidFill>
              </a:rPr>
              <a:t>Μεθόδων PCA και LDA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 rtlCol="0">
            <a:normAutofit/>
          </a:bodyPr>
          <a:lstStyle/>
          <a:p>
            <a:pPr algn="l" rtl="0"/>
            <a:r>
              <a:rPr lang="el-GR" dirty="0">
                <a:solidFill>
                  <a:srgbClr val="FFFFFF"/>
                </a:solidFill>
              </a:rPr>
              <a:t>Αγάπη Καλλίνικου</a:t>
            </a:r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rtlCol="0" anchor="b">
            <a:normAutofit/>
          </a:bodyPr>
          <a:lstStyle/>
          <a:p>
            <a:pPr algn="r" rtl="0"/>
            <a:r>
              <a:rPr lang="el-GR" sz="4000">
                <a:solidFill>
                  <a:srgbClr val="FFFFFF"/>
                </a:solidFill>
              </a:rPr>
              <a:t>Εισαγωγή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741144" y="-175749"/>
            <a:ext cx="6265381" cy="4662687"/>
          </a:xfrm>
        </p:spPr>
        <p:txBody>
          <a:bodyPr rtlCol="0" anchor="ctr">
            <a:normAutofit/>
          </a:bodyPr>
          <a:lstStyle/>
          <a:p>
            <a:pPr marL="0" indent="0">
              <a:buNone/>
            </a:pPr>
            <a:r>
              <a:rPr lang="el-GR" sz="2200" b="1" i="1" u="sng" dirty="0">
                <a:solidFill>
                  <a:schemeClr val="accent1"/>
                </a:solidFill>
                <a:latin typeface="+mj-lt"/>
              </a:rPr>
              <a:t>Το πρόβλημα:</a:t>
            </a:r>
          </a:p>
          <a:p>
            <a:pPr lvl="0"/>
            <a:r>
              <a:rPr lang="el-GR" sz="1700" dirty="0"/>
              <a:t>Τα σύνολα δεδομένων συχνά περιλαμβάνουν μεγάλο αριθμό χαρακτηριστικών.</a:t>
            </a:r>
          </a:p>
          <a:p>
            <a:pPr lvl="0"/>
            <a:r>
              <a:rPr lang="el-GR" sz="1700" dirty="0"/>
              <a:t>Η υψηλή διάσταση δυσχεραίνει την ερμηνεία και την </a:t>
            </a:r>
            <a:r>
              <a:rPr lang="el-GR" sz="1700" dirty="0" err="1"/>
              <a:t>οπτικοποίηση</a:t>
            </a:r>
            <a:r>
              <a:rPr lang="el-GR" sz="1700" dirty="0"/>
              <a:t> των δεδομένων.</a:t>
            </a:r>
          </a:p>
          <a:p>
            <a:pPr marL="0" lvl="0" indent="0">
              <a:buNone/>
            </a:pPr>
            <a:endParaRPr lang="el-GR" sz="1700" dirty="0"/>
          </a:p>
          <a:p>
            <a:pPr marL="0" indent="0">
              <a:buNone/>
            </a:pPr>
            <a:r>
              <a:rPr lang="el-GR" sz="2200" b="1" i="1" u="sng" dirty="0">
                <a:solidFill>
                  <a:schemeClr val="accent1"/>
                </a:solidFill>
                <a:latin typeface="+mj-lt"/>
              </a:rPr>
              <a:t>Η προσέγγιση:</a:t>
            </a:r>
          </a:p>
          <a:p>
            <a:r>
              <a:rPr lang="el-GR" sz="1700" dirty="0"/>
              <a:t>Αναπαράσταση των δεδομένων σε χώρο μικρότερης διάστασης, με περιορισμό της απώλειας πληροφορίας</a:t>
            </a:r>
            <a:r>
              <a:rPr lang="en-US" sz="1700" dirty="0"/>
              <a:t>.</a:t>
            </a:r>
            <a:endParaRPr lang="el-GR" sz="1700" dirty="0"/>
          </a:p>
          <a:p>
            <a:pPr lvl="0"/>
            <a:endParaRPr lang="el-GR" sz="1700" dirty="0"/>
          </a:p>
          <a:p>
            <a:pPr rtl="0"/>
            <a:endParaRPr lang="el-GR" sz="1700" dirty="0"/>
          </a:p>
        </p:txBody>
      </p:sp>
      <p:sp>
        <p:nvSpPr>
          <p:cNvPr id="4" name="Ορθογώνιο: Στρογγύλεμα γωνιών 3">
            <a:extLst>
              <a:ext uri="{FF2B5EF4-FFF2-40B4-BE49-F238E27FC236}">
                <a16:creationId xmlns:a16="http://schemas.microsoft.com/office/drawing/2014/main" id="{0E79C56D-F095-F6BE-72DC-B15D11EE8F8B}"/>
              </a:ext>
            </a:extLst>
          </p:cNvPr>
          <p:cNvSpPr/>
          <p:nvPr/>
        </p:nvSpPr>
        <p:spPr>
          <a:xfrm>
            <a:off x="5741144" y="3428999"/>
            <a:ext cx="2988186" cy="33120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u="sng" dirty="0"/>
              <a:t>PCA:</a:t>
            </a:r>
          </a:p>
          <a:p>
            <a:pPr algn="ctr"/>
            <a:r>
              <a:rPr lang="el-GR" i="1" u="sng" dirty="0"/>
              <a:t>Διατήρηση πληροφορίας</a:t>
            </a:r>
            <a:endParaRPr lang="en-US" i="1" u="sng" dirty="0"/>
          </a:p>
          <a:p>
            <a:pPr algn="ctr"/>
            <a:endParaRPr lang="en-US" dirty="0"/>
          </a:p>
          <a:p>
            <a:pPr algn="ctr"/>
            <a:r>
              <a:rPr lang="el-GR" dirty="0"/>
              <a:t>Εντοπίζει νέες διευθύνσεις που εξηγούν τη μεγαλύτερη δυνατή διακύμανση των δεδομένων.</a:t>
            </a:r>
          </a:p>
        </p:txBody>
      </p:sp>
      <p:sp>
        <p:nvSpPr>
          <p:cNvPr id="5" name="Ορθογώνιο: Στρογγύλεμα γωνιών 4">
            <a:extLst>
              <a:ext uri="{FF2B5EF4-FFF2-40B4-BE49-F238E27FC236}">
                <a16:creationId xmlns:a16="http://schemas.microsoft.com/office/drawing/2014/main" id="{683C0417-48CE-57B5-1DB9-0F5B3B02F9CE}"/>
              </a:ext>
            </a:extLst>
          </p:cNvPr>
          <p:cNvSpPr/>
          <p:nvPr/>
        </p:nvSpPr>
        <p:spPr>
          <a:xfrm>
            <a:off x="9018339" y="3428999"/>
            <a:ext cx="2988186" cy="33120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u="sng" dirty="0"/>
              <a:t>LDA:</a:t>
            </a:r>
          </a:p>
          <a:p>
            <a:pPr algn="ctr"/>
            <a:r>
              <a:rPr lang="el-GR" i="1" u="sng" dirty="0"/>
              <a:t>Διαχωρισμός κατηγοριών</a:t>
            </a:r>
            <a:endParaRPr lang="en-US" i="1" u="sng" dirty="0"/>
          </a:p>
          <a:p>
            <a:pPr algn="ctr"/>
            <a:endParaRPr lang="en-US" dirty="0"/>
          </a:p>
          <a:p>
            <a:pPr algn="ctr"/>
            <a:r>
              <a:rPr lang="el-GR" dirty="0"/>
              <a:t>Αξιοποιεί τις γνωστές ετικέτες των δεδομένων για να αναδείξει τις διαφορές μεταξύ των κατηγοριών.</a:t>
            </a:r>
          </a:p>
        </p:txBody>
      </p:sp>
    </p:spTree>
    <p:extLst>
      <p:ext uri="{BB962C8B-B14F-4D97-AF65-F5344CB8AC3E}">
        <p14:creationId xmlns:p14="http://schemas.microsoft.com/office/powerpoint/2010/main" val="185189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438808" y="344679"/>
            <a:ext cx="8085082" cy="672715"/>
          </a:xfrm>
        </p:spPr>
        <p:txBody>
          <a:bodyPr rtlCol="0">
            <a:normAutofit/>
          </a:bodyPr>
          <a:lstStyle/>
          <a:p>
            <a:pPr rtl="0"/>
            <a:r>
              <a:rPr lang="el-GR" sz="3500" b="1" i="1" u="sng" dirty="0">
                <a:solidFill>
                  <a:schemeClr val="accent1"/>
                </a:solidFill>
              </a:rPr>
              <a:t>Θεωρητικό Υπόβαθρο </a:t>
            </a:r>
          </a:p>
        </p:txBody>
      </p:sp>
      <p:graphicFrame>
        <p:nvGraphicFramePr>
          <p:cNvPr id="5" name="Θέση περιεχομένου 2">
            <a:extLst>
              <a:ext uri="{FF2B5EF4-FFF2-40B4-BE49-F238E27FC236}">
                <a16:creationId xmlns:a16="http://schemas.microsoft.com/office/drawing/2014/main" id="{8FA22374-D4E8-0F19-7060-98790BEE8C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448764"/>
              </p:ext>
            </p:extLst>
          </p:nvPr>
        </p:nvGraphicFramePr>
        <p:xfrm>
          <a:off x="438808" y="1411013"/>
          <a:ext cx="6540062" cy="4790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Εικόνα 5">
            <a:extLst>
              <a:ext uri="{FF2B5EF4-FFF2-40B4-BE49-F238E27FC236}">
                <a16:creationId xmlns:a16="http://schemas.microsoft.com/office/drawing/2014/main" id="{93195DC6-4E8B-7B6C-D35D-367065AC5F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1741" y="1698960"/>
            <a:ext cx="2515076" cy="1117812"/>
          </a:xfrm>
          <a:prstGeom prst="rect">
            <a:avLst/>
          </a:prstGeom>
        </p:spPr>
      </p:pic>
      <p:pic>
        <p:nvPicPr>
          <p:cNvPr id="8" name="Εικόνα 7">
            <a:extLst>
              <a:ext uri="{FF2B5EF4-FFF2-40B4-BE49-F238E27FC236}">
                <a16:creationId xmlns:a16="http://schemas.microsoft.com/office/drawing/2014/main" id="{F896953A-FAC5-EED0-375B-7D091B87D0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5762" y="4041228"/>
            <a:ext cx="4436279" cy="83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6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932E85-9A99-C748-F0A8-94A9CF256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E24C2B3-1D40-E326-FBE4-2AC9113DB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7" y="294538"/>
            <a:ext cx="10808204" cy="1033669"/>
          </a:xfrm>
        </p:spPr>
        <p:txBody>
          <a:bodyPr rtlCol="0">
            <a:normAutofit/>
          </a:bodyPr>
          <a:lstStyle/>
          <a:p>
            <a:pPr rtl="0"/>
            <a:r>
              <a:rPr lang="el-GR" sz="3000" dirty="0">
                <a:solidFill>
                  <a:srgbClr val="FFFFFF"/>
                </a:solidFill>
              </a:rPr>
              <a:t>Θεωρητικό Υπόβαθρο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68A020A0-4F8F-55BF-6C60-7F4C32F07D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622745"/>
                <a:ext cx="12374147" cy="5235255"/>
              </a:xfrm>
            </p:spPr>
            <p:txBody>
              <a:bodyPr rtlCol="0" anchor="ctr"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l-GR" sz="1900" b="1" i="1" u="sng" dirty="0" err="1">
                    <a:solidFill>
                      <a:schemeClr val="accent1"/>
                    </a:solidFill>
                  </a:rPr>
                  <a:t>Ιδιοτιμές</a:t>
                </a:r>
                <a:r>
                  <a:rPr lang="el-GR" sz="1900" b="1" i="1" u="sng" dirty="0">
                    <a:solidFill>
                      <a:schemeClr val="accent1"/>
                    </a:solidFill>
                  </a:rPr>
                  <a:t> και </a:t>
                </a:r>
                <a:r>
                  <a:rPr lang="el-GR" sz="1900" b="1" i="1" u="sng" dirty="0" err="1">
                    <a:solidFill>
                      <a:schemeClr val="accent1"/>
                    </a:solidFill>
                  </a:rPr>
                  <a:t>Ιδιοδιανύσματα</a:t>
                </a:r>
                <a:r>
                  <a:rPr lang="el-GR" sz="1900" b="1" i="1" u="sng" dirty="0">
                    <a:solidFill>
                      <a:schemeClr val="accent1"/>
                    </a:solidFill>
                  </a:rPr>
                  <a:t>:</a:t>
                </a:r>
              </a:p>
              <a:p>
                <a:pPr marL="0" indent="0">
                  <a:buNone/>
                </a:pPr>
                <a:r>
                  <a:rPr lang="el-GR" sz="1600" dirty="0"/>
                  <a:t>Για έναν τετραγωνικό πίνακα </a:t>
                </a:r>
                <a14:m>
                  <m:oMath xmlns:m="http://schemas.openxmlformats.org/officeDocument/2006/math">
                    <m:r>
                      <a:rPr lang="el-GR" sz="16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l-GR" sz="1600" dirty="0"/>
                  <a:t>, ένα μη μηδενικό διάνυσμα </a:t>
                </a:r>
                <a14:m>
                  <m:oMath xmlns:m="http://schemas.openxmlformats.org/officeDocument/2006/math">
                    <m:r>
                      <a:rPr lang="el-GR" sz="1600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l-GR" sz="1600" dirty="0"/>
                  <a:t> είναι </a:t>
                </a:r>
                <a:r>
                  <a:rPr lang="el-GR" sz="1600" dirty="0" err="1"/>
                  <a:t>ιδιοδιάνυσμα</a:t>
                </a:r>
                <a:r>
                  <a:rPr lang="el-GR" sz="1600" dirty="0"/>
                  <a:t> όταν: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l-GR" sz="1600" b="1" i="1">
                          <a:latin typeface="Cambria Math" panose="02040503050406030204" pitchFamily="18" charset="0"/>
                        </a:rPr>
                        <m:t>𝑨𝒗</m:t>
                      </m:r>
                      <m:r>
                        <a:rPr lang="el-GR" sz="16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1600" b="1" i="1"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l-GR" sz="1600" b="1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l-GR" sz="1600" b="1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l-GR" sz="1600" b="1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l-GR" sz="1600" b="1" i="1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l-GR" sz="16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l-GR" sz="1600" b="1" i="1" dirty="0"/>
              </a:p>
              <a:p>
                <a:pPr marL="0" indent="0">
                  <a:buNone/>
                </a:pPr>
                <a:r>
                  <a:rPr lang="el-GR" sz="1600" dirty="0"/>
                  <a:t>όπου: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l-GR" sz="1600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l-GR" sz="1600" dirty="0"/>
                  <a:t>: </a:t>
                </a:r>
                <a:r>
                  <a:rPr lang="el-GR" sz="1600" dirty="0" err="1"/>
                  <a:t>ιδιοδιάνυσμα</a:t>
                </a:r>
                <a:r>
                  <a:rPr lang="el-GR" sz="1600" dirty="0"/>
                  <a:t> </a:t>
                </a:r>
                <a:r>
                  <a:rPr lang="el-GR" sz="1600" dirty="0">
                    <a:sym typeface="Wingdings" panose="05000000000000000000" pitchFamily="2" charset="2"/>
                  </a:rPr>
                  <a:t></a:t>
                </a:r>
                <a:r>
                  <a:rPr lang="el-GR" sz="1600" dirty="0"/>
                  <a:t> καθορίζει μια κατεύθυνση.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l-GR" sz="1600" b="1" i="1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l-GR" sz="1600" dirty="0"/>
                  <a:t>: </a:t>
                </a:r>
                <a:r>
                  <a:rPr lang="el-GR" sz="1600" dirty="0" err="1"/>
                  <a:t>ιδιοτιμή</a:t>
                </a:r>
                <a:r>
                  <a:rPr lang="el-GR" sz="1600" dirty="0"/>
                  <a:t> </a:t>
                </a:r>
                <a:r>
                  <a:rPr lang="el-GR" sz="1600" dirty="0">
                    <a:sym typeface="Wingdings" panose="05000000000000000000" pitchFamily="2" charset="2"/>
                  </a:rPr>
                  <a:t> </a:t>
                </a:r>
                <a:r>
                  <a:rPr lang="el-GR" sz="1600" dirty="0"/>
                  <a:t>περιγράφει τον συντελεστή με τον οποίο μεταβάλλεται το διάνυσμα κατά τον μετασχηματισμό.</a:t>
                </a:r>
              </a:p>
              <a:p>
                <a:pPr lvl="0"/>
                <a:endParaRPr lang="el-GR" sz="1800" dirty="0"/>
              </a:p>
              <a:p>
                <a:pPr marL="0" indent="0">
                  <a:buNone/>
                </a:pPr>
                <a:r>
                  <a:rPr lang="el-GR" sz="1900" b="1" i="1" u="sng" dirty="0">
                    <a:solidFill>
                      <a:schemeClr val="accent1"/>
                    </a:solidFill>
                  </a:rPr>
                  <a:t>Διανύσματα Μέσων:</a:t>
                </a:r>
              </a:p>
              <a:p>
                <a:pPr marL="0" indent="0">
                  <a:buNone/>
                </a:pPr>
                <a:r>
                  <a:rPr lang="el-GR" sz="1600" dirty="0"/>
                  <a:t>Όταν κάθε παρατήρηση</a:t>
                </a:r>
                <a:r>
                  <a:rPr lang="en-US" sz="1600" dirty="0"/>
                  <a:t> </a:t>
                </a:r>
                <a:r>
                  <a:rPr lang="el-GR" sz="1600" dirty="0"/>
                  <a:t>περιγράφεται από πολλά χαρακτηριστικά, οι μέσες τιμές τους συγκεντρώνονται σε ένα διάνυσμα:</a:t>
                </a:r>
              </a:p>
              <a:p>
                <a:pPr marL="0" lvl="0" indent="0">
                  <a:buNone/>
                </a:pPr>
                <a:r>
                  <a:rPr lang="el-GR" sz="1600" dirty="0"/>
                  <a:t>όπου:</a:t>
                </a:r>
              </a:p>
              <a:p>
                <a:pPr lvl="0"/>
                <a:r>
                  <a:rPr lang="el-GR" sz="1600" dirty="0"/>
                  <a:t>xᵢ: διάνυσμα χαρακτηριστικών της παρατήρησης i.</a:t>
                </a:r>
              </a:p>
              <a:p>
                <a:pPr lvl="0"/>
                <a:r>
                  <a:rPr lang="el-GR" sz="1600" dirty="0"/>
                  <a:t>n: πλήθος παρατηρήσεων.</a:t>
                </a:r>
              </a:p>
              <a:p>
                <a:pPr lvl="0"/>
                <a:r>
                  <a:rPr lang="el-GR" sz="1600" dirty="0"/>
                  <a:t>μ: συνολικό διάνυσμα μέσων.</a:t>
                </a:r>
              </a:p>
              <a:p>
                <a:pPr marL="0" indent="0">
                  <a:buNone/>
                </a:pPr>
                <a:r>
                  <a:rPr lang="el-GR" sz="1600" i="1" u="sng" dirty="0"/>
                  <a:t>Όταν υπάρχουν κατηγορίες:</a:t>
                </a:r>
              </a:p>
              <a:p>
                <a:pPr lvl="0"/>
                <a:r>
                  <a:rPr lang="el-GR" sz="1600" dirty="0"/>
                  <a:t>Υπολογίζεται ένα διάνυσμα μέσων για κάθε κατηγορία.</a:t>
                </a:r>
              </a:p>
              <a:p>
                <a:pPr lvl="0"/>
                <a:r>
                  <a:rPr lang="el-GR" sz="1600" dirty="0"/>
                  <a:t>Τα διανύσματα αυτά περιγράφουν το κέντρο κάθε κατηγορίας και βοηθούν στη μελέτη των διαφορών μεταξύ τους.</a:t>
                </a:r>
                <a:endParaRPr lang="el-GR" sz="1800" dirty="0"/>
              </a:p>
              <a:p>
                <a:pPr marL="0" indent="0" rtl="0">
                  <a:buNone/>
                </a:pPr>
                <a:endParaRPr lang="el-GR" sz="1400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68A020A0-4F8F-55BF-6C60-7F4C32F07D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22745"/>
                <a:ext cx="12374147" cy="5235255"/>
              </a:xfrm>
              <a:blipFill>
                <a:blip r:embed="rId3"/>
                <a:stretch>
                  <a:fillRect l="-394" t="-1164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Εικόνα 4">
            <a:extLst>
              <a:ext uri="{FF2B5EF4-FFF2-40B4-BE49-F238E27FC236}">
                <a16:creationId xmlns:a16="http://schemas.microsoft.com/office/drawing/2014/main" id="{8DF4ADE9-76C6-452B-27EE-CDC233C98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7977" y="3928178"/>
            <a:ext cx="1660368" cy="78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913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C836EB-7381-A595-6592-09CBD1A88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5BE658F-78E3-D23D-FFCE-42F01DA13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073B25-D1E1-162B-A0FD-2B02C3A16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903A49C-9258-31D9-AFB7-F9007DF3E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518600-9A40-F70B-3E74-5CF672C59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7C116E-300B-1D90-C978-61EA2B483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54B38C4-C155-2CA0-7D4E-827EFDFD7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7" y="294538"/>
            <a:ext cx="10808204" cy="1033669"/>
          </a:xfrm>
        </p:spPr>
        <p:txBody>
          <a:bodyPr rtlCol="0">
            <a:normAutofit/>
          </a:bodyPr>
          <a:lstStyle/>
          <a:p>
            <a:r>
              <a:rPr lang="el-GR" sz="3200" dirty="0" err="1">
                <a:solidFill>
                  <a:schemeClr val="bg1"/>
                </a:solidFill>
              </a:rPr>
              <a:t>Ενδοταξική</a:t>
            </a:r>
            <a:r>
              <a:rPr lang="el-GR" sz="3200" dirty="0">
                <a:solidFill>
                  <a:schemeClr val="bg1"/>
                </a:solidFill>
              </a:rPr>
              <a:t> και Μεταξύ των Τάξεων Διασπορά</a:t>
            </a:r>
            <a:endParaRPr lang="el-GR" sz="3000" dirty="0">
              <a:solidFill>
                <a:schemeClr val="bg1"/>
              </a:solidFill>
            </a:endParaRPr>
          </a:p>
        </p:txBody>
      </p:sp>
      <p:sp>
        <p:nvSpPr>
          <p:cNvPr id="4" name="Ορθογώνιο: Στρογγύλεμα γωνιών 3">
            <a:extLst>
              <a:ext uri="{FF2B5EF4-FFF2-40B4-BE49-F238E27FC236}">
                <a16:creationId xmlns:a16="http://schemas.microsoft.com/office/drawing/2014/main" id="{75394B20-270D-23E1-C4C5-9550308656D5}"/>
              </a:ext>
            </a:extLst>
          </p:cNvPr>
          <p:cNvSpPr/>
          <p:nvPr/>
        </p:nvSpPr>
        <p:spPr>
          <a:xfrm>
            <a:off x="209993" y="1667869"/>
            <a:ext cx="3405078" cy="23725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000" b="1" i="1" u="sng" dirty="0" err="1"/>
              <a:t>Ενδοταξική</a:t>
            </a:r>
            <a:r>
              <a:rPr lang="el-GR" sz="2000" b="1" i="1" u="sng" dirty="0"/>
              <a:t> διασπορά S</a:t>
            </a:r>
            <a:r>
              <a:rPr lang="en-US" sz="2000" b="1" i="1" u="sng" dirty="0"/>
              <a:t>w:</a:t>
            </a:r>
            <a:endParaRPr lang="el-GR" sz="2000" b="1" i="1" u="sng" dirty="0"/>
          </a:p>
          <a:p>
            <a:r>
              <a:rPr lang="el-GR" dirty="0"/>
              <a:t>Μετρά πόσο διασκορπισμένα είναι τα δείγματα γύρω από το κέντρο της δικής τους κατηγορίας.</a:t>
            </a:r>
          </a:p>
          <a:p>
            <a:endParaRPr lang="el-GR" dirty="0"/>
          </a:p>
          <a:p>
            <a:r>
              <a:rPr lang="el-GR" i="1" dirty="0"/>
              <a:t>Επιθυμητός στόχος στην LDA: μικρή.</a:t>
            </a:r>
          </a:p>
        </p:txBody>
      </p:sp>
      <p:pic>
        <p:nvPicPr>
          <p:cNvPr id="18" name="Θέση περιεχομένου 17">
            <a:extLst>
              <a:ext uri="{FF2B5EF4-FFF2-40B4-BE49-F238E27FC236}">
                <a16:creationId xmlns:a16="http://schemas.microsoft.com/office/drawing/2014/main" id="{1F43A679-F701-A126-C08D-1953546AB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29885" y="5047926"/>
            <a:ext cx="3596952" cy="815411"/>
          </a:xfrm>
          <a:prstGeom prst="rect">
            <a:avLst/>
          </a:prstGeom>
        </p:spPr>
      </p:pic>
      <p:sp>
        <p:nvSpPr>
          <p:cNvPr id="9" name="Ορθογώνιο: Στρογγύλεμα γωνιών 8">
            <a:extLst>
              <a:ext uri="{FF2B5EF4-FFF2-40B4-BE49-F238E27FC236}">
                <a16:creationId xmlns:a16="http://schemas.microsoft.com/office/drawing/2014/main" id="{9C9A4FC4-6584-56FD-227B-B18167107044}"/>
              </a:ext>
            </a:extLst>
          </p:cNvPr>
          <p:cNvSpPr/>
          <p:nvPr/>
        </p:nvSpPr>
        <p:spPr>
          <a:xfrm>
            <a:off x="209993" y="4198129"/>
            <a:ext cx="3405078" cy="25150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b="1" i="1" u="sng" dirty="0"/>
              <a:t>Μεταξύ των τάξεων διασπορά </a:t>
            </a:r>
            <a:r>
              <a:rPr lang="en-US" b="1" i="1" u="sng" dirty="0"/>
              <a:t>Sb:</a:t>
            </a:r>
            <a:endParaRPr lang="el-GR" b="1" i="1" u="sng" dirty="0"/>
          </a:p>
          <a:p>
            <a:r>
              <a:rPr lang="el-GR" dirty="0"/>
              <a:t>Μετρά πόσο διαφέρουν τα κέντρα των κατηγοριών από το συνολικό κέντρο των δεδομένων.</a:t>
            </a:r>
            <a:endParaRPr lang="en-US" dirty="0"/>
          </a:p>
          <a:p>
            <a:endParaRPr lang="el-GR" dirty="0"/>
          </a:p>
          <a:p>
            <a:r>
              <a:rPr lang="el-GR" i="1" dirty="0"/>
              <a:t>Επιθυμητός στόχος στην LDA: μεγάλη.</a:t>
            </a:r>
          </a:p>
        </p:txBody>
      </p:sp>
      <p:sp>
        <p:nvSpPr>
          <p:cNvPr id="13" name="Ορθογώνιο: Στρογγύλεμα γωνιών 12">
            <a:extLst>
              <a:ext uri="{FF2B5EF4-FFF2-40B4-BE49-F238E27FC236}">
                <a16:creationId xmlns:a16="http://schemas.microsoft.com/office/drawing/2014/main" id="{5AA622D9-E0AF-9771-5863-9D4CB01A38F0}"/>
              </a:ext>
            </a:extLst>
          </p:cNvPr>
          <p:cNvSpPr/>
          <p:nvPr/>
        </p:nvSpPr>
        <p:spPr>
          <a:xfrm flipH="1" flipV="1">
            <a:off x="14162567" y="3242930"/>
            <a:ext cx="45719" cy="53163"/>
          </a:xfrm>
          <a:prstGeom prst="round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b="1" i="1" u="sng" dirty="0">
              <a:solidFill>
                <a:schemeClr val="bg1"/>
              </a:solidFill>
            </a:endParaRPr>
          </a:p>
        </p:txBody>
      </p:sp>
      <p:sp>
        <p:nvSpPr>
          <p:cNvPr id="14" name="Ορθογώνιο: Στρογγύλεμα γωνιών 13">
            <a:extLst>
              <a:ext uri="{FF2B5EF4-FFF2-40B4-BE49-F238E27FC236}">
                <a16:creationId xmlns:a16="http://schemas.microsoft.com/office/drawing/2014/main" id="{E6C0E6B7-099B-6AF1-E3AF-5A82CD40BD32}"/>
              </a:ext>
            </a:extLst>
          </p:cNvPr>
          <p:cNvSpPr/>
          <p:nvPr/>
        </p:nvSpPr>
        <p:spPr>
          <a:xfrm>
            <a:off x="8451109" y="2812181"/>
            <a:ext cx="3405077" cy="210668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l-GR" sz="2000" b="1" i="1" u="sng" dirty="0">
                <a:solidFill>
                  <a:schemeClr val="tx1"/>
                </a:solidFill>
              </a:rPr>
              <a:t>Βασική Ιδέα της</a:t>
            </a:r>
            <a:r>
              <a:rPr lang="en-US" sz="2000" b="1" i="1" u="sng" dirty="0">
                <a:solidFill>
                  <a:schemeClr val="tx1"/>
                </a:solidFill>
              </a:rPr>
              <a:t> LDA:</a:t>
            </a:r>
            <a:endParaRPr lang="el-GR" sz="2000" b="1" i="1" u="sng" dirty="0">
              <a:solidFill>
                <a:schemeClr val="tx1"/>
              </a:solidFill>
            </a:endParaRPr>
          </a:p>
          <a:p>
            <a:r>
              <a:rPr lang="el-GR" dirty="0">
                <a:solidFill>
                  <a:schemeClr val="tx1"/>
                </a:solidFill>
              </a:rPr>
              <a:t>Επιδιώκει προβολή των δεδομένων που να περιορίζει τη διασπορά μέσα στις κατηγορίες και να ενισχύει τον διαχωρισμό μεταξύ τους.</a:t>
            </a:r>
          </a:p>
        </p:txBody>
      </p:sp>
      <p:pic>
        <p:nvPicPr>
          <p:cNvPr id="20" name="Εικόνα 19">
            <a:extLst>
              <a:ext uri="{FF2B5EF4-FFF2-40B4-BE49-F238E27FC236}">
                <a16:creationId xmlns:a16="http://schemas.microsoft.com/office/drawing/2014/main" id="{437EDA2A-B00E-954D-992B-50CB93938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064" y="2328269"/>
            <a:ext cx="3977985" cy="96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980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C2B85-C9DA-C9D5-A0F0-152893863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304ADEF-10A2-0DDC-A06C-FA514D274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E32BE3-6763-F825-273C-EF4CF95A4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BBF664-A817-3F81-75B2-668A1AB4D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3418266-5C69-88ED-D7AE-482D6E48C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C3FBC52-E565-42F0-38F5-BC1A7AAE0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8B84D004-89F7-475F-FCD9-785DD26F4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7" y="294538"/>
            <a:ext cx="10808204" cy="1033669"/>
          </a:xfrm>
        </p:spPr>
        <p:txBody>
          <a:bodyPr rtlCol="0">
            <a:normAutofit/>
          </a:bodyPr>
          <a:lstStyle/>
          <a:p>
            <a:r>
              <a:rPr lang="el-GR" sz="3200" dirty="0">
                <a:solidFill>
                  <a:schemeClr val="bg1"/>
                </a:solidFill>
              </a:rPr>
              <a:t>Η μέθοδος </a:t>
            </a:r>
            <a:r>
              <a:rPr lang="en-US" sz="3200" dirty="0">
                <a:solidFill>
                  <a:schemeClr val="bg1"/>
                </a:solidFill>
              </a:rPr>
              <a:t>PCA:</a:t>
            </a:r>
            <a:endParaRPr lang="el-GR" sz="3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7DB7952D-DCE1-0D70-C448-28A36109FE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9350" y="1622746"/>
                <a:ext cx="10636280" cy="5408676"/>
              </a:xfrm>
            </p:spPr>
            <p:txBody>
              <a:bodyPr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l-GR" sz="2200" b="1" i="1" u="sng" dirty="0">
                    <a:solidFill>
                      <a:schemeClr val="accent1"/>
                    </a:solidFill>
                  </a:rPr>
                  <a:t>Οργάνωση δεδομένων: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l-GR" sz="2500" b="1" i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l-GR" sz="2500" b="1" i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l-GR" sz="2500" b="1" i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l-GR" sz="2500" b="1" i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l-GR" sz="2500" b="1" i="0">
                              <a:latin typeface="Cambria Math" panose="02040503050406030204" pitchFamily="18" charset="0"/>
                            </a:rPr>
                            <m:t>𝐧</m:t>
                          </m:r>
                          <m:r>
                            <a:rPr lang="el-GR" sz="2500" b="1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l-GR" sz="2500" b="1" i="0">
                              <a:latin typeface="Cambria Math" panose="02040503050406030204" pitchFamily="18" charset="0"/>
                            </a:rPr>
                            <m:t>𝐩</m:t>
                          </m:r>
                        </m:sup>
                      </m:sSup>
                    </m:oMath>
                  </m:oMathPara>
                </a14:m>
                <a:endParaRPr lang="el-GR" sz="2500" b="1" dirty="0"/>
              </a:p>
              <a:p>
                <a:pPr lvl="0"/>
                <a14:m>
                  <m:oMath xmlns:m="http://schemas.openxmlformats.org/officeDocument/2006/math">
                    <m:r>
                      <a:rPr lang="el-GR" sz="19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l-GR" sz="1900" dirty="0"/>
                  <a:t>: αριθμός παρατηρήσεων.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l-GR" sz="19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l-GR" sz="1900" dirty="0"/>
                  <a:t>: αριθμός χαρακτηριστικών.</a:t>
                </a:r>
              </a:p>
              <a:p>
                <a:pPr lvl="0"/>
                <a:r>
                  <a:rPr lang="el-GR" sz="1900" dirty="0"/>
                  <a:t>Κάθε γραμμή αντιστοιχεί σε μία παρατήρηση και κάθε στήλη σε ένα χαρακτηριστικό.</a:t>
                </a:r>
              </a:p>
              <a:p>
                <a:pPr marL="0" lvl="0" indent="0">
                  <a:buNone/>
                </a:pPr>
                <a:endParaRPr lang="el-GR" sz="2400" dirty="0"/>
              </a:p>
              <a:p>
                <a:pPr marL="0" indent="0">
                  <a:buNone/>
                </a:pPr>
                <a:r>
                  <a:rPr lang="el-GR" sz="2200" b="1" i="1" u="sng" dirty="0">
                    <a:solidFill>
                      <a:schemeClr val="accent1"/>
                    </a:solidFill>
                  </a:rPr>
                  <a:t>Κεντράρισμα: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l-GR" sz="25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l-GR" sz="25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l-GR" sz="25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d>
                            <m:dPr>
                              <m:ctrlPr>
                                <a:rPr lang="el-GR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l-GR" sz="25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sup>
                      </m:sSubSup>
                      <m:r>
                        <a:rPr lang="el-GR" sz="25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5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l-GR" sz="25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l-GR" sz="250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l-GR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l-GR" sz="25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l-GR" sz="25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l-GR" sz="25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l-GR" sz="2500" dirty="0"/>
              </a:p>
              <a:p>
                <a:r>
                  <a:rPr lang="el-GR" sz="1900" dirty="0"/>
                  <a:t>Αφαιρούμε από κάθε τιμή τον μέσο όρο του αντίστοιχου χαρακτηριστικού.</a:t>
                </a:r>
              </a:p>
              <a:p>
                <a:pPr marL="0" indent="0">
                  <a:buNone/>
                </a:pPr>
                <a:r>
                  <a:rPr lang="el-GR" sz="2200" b="1" i="1" u="sng" dirty="0">
                    <a:solidFill>
                      <a:schemeClr val="accent1"/>
                    </a:solidFill>
                  </a:rPr>
                  <a:t>Τυποποίηση:</a:t>
                </a:r>
              </a:p>
              <a:p>
                <a:r>
                  <a:rPr lang="el-GR" sz="1900" dirty="0"/>
                  <a:t>Όταν τα χαρακτηριστικά έχουν διαφορετικές κλίμακες, διαιρούμε τις κεντραρισμένες τιμές με την αντίστοιχη τυπική απόκλιση.</a:t>
                </a:r>
              </a:p>
              <a:p>
                <a:pPr rtl="0"/>
                <a:endParaRPr lang="el-GR" sz="1400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7DB7952D-DCE1-0D70-C448-28A36109FE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9350" y="1622746"/>
                <a:ext cx="10636280" cy="5408676"/>
              </a:xfrm>
              <a:blipFill>
                <a:blip r:embed="rId3"/>
                <a:stretch>
                  <a:fillRect l="-745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4345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292998-097D-9C92-58E1-83964A861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4FE280F-CA1B-9C54-1187-69913F7F7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D1CB11-7118-FE33-B474-32F4BEC7B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9D2C28-760A-2DEB-0D6D-0FAA829A3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59336C-2288-5012-91FC-723D71BC4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93914A1-B3A3-DCFB-FC0F-379F8E2D3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CBBD57C-95BA-A05C-0263-D2A6C3FF2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7" y="294538"/>
            <a:ext cx="10808204" cy="1033669"/>
          </a:xfrm>
        </p:spPr>
        <p:txBody>
          <a:bodyPr rtlCol="0">
            <a:normAutofit/>
          </a:bodyPr>
          <a:lstStyle/>
          <a:p>
            <a:r>
              <a:rPr lang="el-GR" sz="3200" dirty="0">
                <a:solidFill>
                  <a:schemeClr val="bg1"/>
                </a:solidFill>
              </a:rPr>
              <a:t>Η μέθοδος </a:t>
            </a:r>
            <a:r>
              <a:rPr lang="en-US" sz="3200" dirty="0">
                <a:solidFill>
                  <a:schemeClr val="bg1"/>
                </a:solidFill>
              </a:rPr>
              <a:t>PCA:</a:t>
            </a:r>
            <a:endParaRPr lang="el-GR" sz="3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7CCE6E57-8C51-F809-707B-B484BC723F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9350" y="1622746"/>
                <a:ext cx="10636280" cy="5408676"/>
              </a:xfrm>
            </p:spPr>
            <p:txBody>
              <a:bodyPr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l-GR" sz="2200" b="1" i="1" u="sng" dirty="0">
                    <a:solidFill>
                      <a:schemeClr val="accent1"/>
                    </a:solidFill>
                  </a:rPr>
                  <a:t>Πίνακας </a:t>
                </a:r>
                <a:r>
                  <a:rPr lang="el-GR" sz="2200" b="1" i="1" u="sng" dirty="0" err="1">
                    <a:solidFill>
                      <a:schemeClr val="accent1"/>
                    </a:solidFill>
                  </a:rPr>
                  <a:t>συνδιακύμανσης</a:t>
                </a:r>
                <a:r>
                  <a:rPr lang="el-GR" sz="2200" b="1" i="1" u="sng" dirty="0">
                    <a:solidFill>
                      <a:schemeClr val="accent1"/>
                    </a:solidFill>
                  </a:rPr>
                  <a:t>:</a:t>
                </a:r>
              </a:p>
              <a:p>
                <a:pPr lvl="0"/>
                <a:r>
                  <a:rPr lang="el-GR" sz="1900" dirty="0"/>
                  <a:t>Τα διαγώνια στοιχεία εκφράζουν τις διακυμάνσεις των χαρακτηριστικών.</a:t>
                </a:r>
              </a:p>
              <a:p>
                <a:pPr lvl="0"/>
                <a:r>
                  <a:rPr lang="el-GR" sz="1900" dirty="0"/>
                  <a:t>Τα υπόλοιπα στοιχεία εκφράζουν τις </a:t>
                </a:r>
                <a:r>
                  <a:rPr lang="el-GR" sz="1900" dirty="0" err="1"/>
                  <a:t>συνδιακυμάνσεις</a:t>
                </a:r>
                <a:r>
                  <a:rPr lang="el-GR" sz="1900" dirty="0"/>
                  <a:t> μεταξύ τους.</a:t>
                </a:r>
              </a:p>
              <a:p>
                <a:pPr lvl="0"/>
                <a:endParaRPr lang="el-GR" sz="1900" dirty="0"/>
              </a:p>
              <a:p>
                <a:pPr marL="0" indent="0">
                  <a:buNone/>
                </a:pPr>
                <a:r>
                  <a:rPr lang="el-GR" sz="2200" b="1" i="1" u="sng" dirty="0">
                    <a:solidFill>
                      <a:schemeClr val="accent1"/>
                    </a:solidFill>
                  </a:rPr>
                  <a:t>Υπολογισμός </a:t>
                </a:r>
                <a:r>
                  <a:rPr lang="el-GR" sz="2200" b="1" i="1" u="sng" dirty="0" err="1">
                    <a:solidFill>
                      <a:schemeClr val="accent1"/>
                    </a:solidFill>
                  </a:rPr>
                  <a:t>ιδιοτιμών</a:t>
                </a:r>
                <a:r>
                  <a:rPr lang="el-GR" sz="2200" b="1" i="1" u="sng" dirty="0">
                    <a:solidFill>
                      <a:schemeClr val="accent1"/>
                    </a:solidFill>
                  </a:rPr>
                  <a:t> και </a:t>
                </a:r>
                <a:r>
                  <a:rPr lang="el-GR" sz="2200" b="1" i="1" u="sng" dirty="0" err="1">
                    <a:solidFill>
                      <a:schemeClr val="accent1"/>
                    </a:solidFill>
                  </a:rPr>
                  <a:t>ιδιοδιανυσμάτων</a:t>
                </a:r>
                <a:r>
                  <a:rPr lang="el-GR" sz="2200" b="1" i="1" u="sng" dirty="0">
                    <a:solidFill>
                      <a:schemeClr val="accent1"/>
                    </a:solidFill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l-GR" sz="2500" i="1"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el-GR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5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l-GR" sz="25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l-GR" sz="25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l-GR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5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l-GR" sz="25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l-GR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5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l-GR" sz="25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l-GR" sz="2500" dirty="0"/>
              </a:p>
              <a:p>
                <a:pPr lvl="0"/>
                <a:r>
                  <a:rPr lang="el-GR" sz="1900" dirty="0"/>
                  <a:t>Οι </a:t>
                </a:r>
                <a:r>
                  <a:rPr lang="el-GR" sz="1900" dirty="0" err="1"/>
                  <a:t>ιδιοτιμές</a:t>
                </a:r>
                <a:r>
                  <a:rPr lang="el-GR" sz="19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9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l-GR" sz="19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l-GR" sz="1900" dirty="0"/>
                  <a:t>εκφράζουν τη διακύμανση κατά μήκος των αντίστοιχων κύριων διευθύνσεων.</a:t>
                </a:r>
              </a:p>
              <a:p>
                <a:pPr lvl="0"/>
                <a:r>
                  <a:rPr lang="el-GR" sz="1900" dirty="0"/>
                  <a:t>Τα </a:t>
                </a:r>
                <a:r>
                  <a:rPr lang="el-GR" sz="1900" dirty="0" err="1"/>
                  <a:t>ιδιοδιανύσματα</a:t>
                </a:r>
                <a:r>
                  <a:rPr lang="el-GR" sz="19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9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l-GR" sz="19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l-GR" sz="1900" dirty="0"/>
                  <a:t>καθορίζουν τις διευθύνσεις αυτές.</a:t>
                </a:r>
              </a:p>
              <a:p>
                <a:r>
                  <a:rPr lang="el-GR" sz="1900" dirty="0"/>
                  <a:t>Οι </a:t>
                </a:r>
                <a:r>
                  <a:rPr lang="el-GR" sz="1900" dirty="0" err="1"/>
                  <a:t>ιδιοτιμές</a:t>
                </a:r>
                <a:r>
                  <a:rPr lang="el-GR" sz="1900" dirty="0"/>
                  <a:t> ταξινομούνται κατά φθίνουσα σειρά: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l-GR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9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l-GR" sz="19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l-GR" sz="190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l-GR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9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l-GR" sz="19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l-GR" sz="1900">
                          <a:latin typeface="Cambria Math" panose="02040503050406030204" pitchFamily="18" charset="0"/>
                        </a:rPr>
                        <m:t>≥⋯≥</m:t>
                      </m:r>
                      <m:sSub>
                        <m:sSubPr>
                          <m:ctrlPr>
                            <a:rPr lang="el-GR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19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l-GR" sz="19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l-GR" sz="190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l-GR" sz="1900" dirty="0"/>
              </a:p>
              <a:p>
                <a:pPr rtl="0"/>
                <a:endParaRPr lang="el-GR" sz="1400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7CCE6E57-8C51-F809-707B-B484BC723F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9350" y="1622746"/>
                <a:ext cx="10636280" cy="5408676"/>
              </a:xfrm>
              <a:blipFill>
                <a:blip r:embed="rId3"/>
                <a:stretch>
                  <a:fillRect l="-745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Εικόνα 4">
            <a:extLst>
              <a:ext uri="{FF2B5EF4-FFF2-40B4-BE49-F238E27FC236}">
                <a16:creationId xmlns:a16="http://schemas.microsoft.com/office/drawing/2014/main" id="{DF102B0A-375F-5069-2390-6BCBE8AC97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3182" y="2551569"/>
            <a:ext cx="2644369" cy="92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00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1B2C3F-17F4-83DB-E249-6E4D6EF79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E379881-EDEE-6450-0C9F-DD8C325EB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E4E0B8-930C-3D57-8113-2FC84405C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634B7-3476-EF93-E1E7-2A0E921F1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BECE4DB-9DD8-C28D-2552-BF83564BB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EB761B6-BF6E-6174-1ED0-E768A8231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AED18C7D-44E4-E166-91EB-95B9690A7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7" y="294538"/>
            <a:ext cx="10808204" cy="1033669"/>
          </a:xfrm>
        </p:spPr>
        <p:txBody>
          <a:bodyPr rtlCol="0">
            <a:normAutofit/>
          </a:bodyPr>
          <a:lstStyle/>
          <a:p>
            <a:r>
              <a:rPr lang="el-GR" sz="3200" dirty="0">
                <a:solidFill>
                  <a:schemeClr val="bg1"/>
                </a:solidFill>
              </a:rPr>
              <a:t>Η μέθοδος </a:t>
            </a:r>
            <a:r>
              <a:rPr lang="en-US" sz="3200" dirty="0">
                <a:solidFill>
                  <a:schemeClr val="bg1"/>
                </a:solidFill>
              </a:rPr>
              <a:t>PCA:</a:t>
            </a:r>
            <a:endParaRPr lang="el-GR" sz="3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52912147-AD8B-41F1-8CA4-93937AE04D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9350" y="1622746"/>
                <a:ext cx="10636280" cy="5408676"/>
              </a:xfrm>
            </p:spPr>
            <p:txBody>
              <a:bodyPr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l-GR" sz="2200" b="1" i="1" u="sng" dirty="0">
                    <a:solidFill>
                      <a:schemeClr val="accent1"/>
                    </a:solidFill>
                  </a:rPr>
                  <a:t>Ποσοστό εξηγημένης διακύμανσης:</a:t>
                </a:r>
              </a:p>
              <a:p>
                <a:pPr lvl="0"/>
                <a:r>
                  <a:rPr lang="el-GR" sz="1900" dirty="0"/>
                  <a:t>Τα διαγώνια στοιχεία εκφράζουν τις διακυμάνσεις των χαρακτηριστικών.</a:t>
                </a:r>
              </a:p>
              <a:p>
                <a:pPr lvl="0"/>
                <a:r>
                  <a:rPr lang="el-GR" sz="1900" dirty="0"/>
                  <a:t>Τα υπόλοιπα στοιχεία εκφράζουν τις </a:t>
                </a:r>
                <a:r>
                  <a:rPr lang="el-GR" sz="1900" dirty="0" err="1"/>
                  <a:t>συνδιακυμάνσεις</a:t>
                </a:r>
                <a:r>
                  <a:rPr lang="el-GR" sz="1900" dirty="0"/>
                  <a:t> μεταξύ τους.</a:t>
                </a:r>
              </a:p>
              <a:p>
                <a:pPr lvl="0"/>
                <a:endParaRPr lang="el-GR" sz="1900" dirty="0"/>
              </a:p>
              <a:p>
                <a:pPr marL="0" indent="0">
                  <a:buNone/>
                </a:pPr>
                <a:r>
                  <a:rPr lang="el-GR" sz="2200" b="1" i="1" u="sng" dirty="0">
                    <a:solidFill>
                      <a:schemeClr val="accent1"/>
                    </a:solidFill>
                  </a:rPr>
                  <a:t>Αθροιστικό ποσοστό για τις πρώτες </a:t>
                </a:r>
                <a14:m>
                  <m:oMath xmlns:m="http://schemas.openxmlformats.org/officeDocument/2006/math">
                    <m:r>
                      <a:rPr lang="el-GR" sz="2200" b="1" i="1" u="sng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l-GR" sz="2200" b="1" i="1" u="sng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2200" b="1" i="1" u="sng" dirty="0">
                    <a:solidFill>
                      <a:schemeClr val="accent1"/>
                    </a:solidFill>
                  </a:rPr>
                  <a:t>συνιστώσες:</a:t>
                </a:r>
              </a:p>
              <a:p>
                <a:pPr lvl="0"/>
                <a:r>
                  <a:rPr lang="el-GR" sz="2000" dirty="0"/>
                  <a:t>Το αθροιστικό ποσοστό δείχνει πόση από τη συνολική διακύμανση διατηρείται με τις επιλεγμένες συνιστώσες.</a:t>
                </a:r>
              </a:p>
              <a:p>
                <a:pPr lvl="0"/>
                <a:endParaRPr lang="el-GR" sz="2000" dirty="0"/>
              </a:p>
              <a:p>
                <a:pPr marL="0" indent="0">
                  <a:buNone/>
                </a:pPr>
                <a:r>
                  <a:rPr lang="el-GR" sz="2200" b="1" i="1" u="sng" dirty="0">
                    <a:solidFill>
                      <a:schemeClr val="accent1"/>
                    </a:solidFill>
                  </a:rPr>
                  <a:t>Μετασχηματισμός δεδομένων:</a:t>
                </a:r>
              </a:p>
              <a:p>
                <a:pPr lvl="0"/>
                <a:r>
                  <a:rPr lang="el-GR" sz="1900" dirty="0" err="1"/>
                  <a:t>Vk</a:t>
                </a:r>
                <a:r>
                  <a:rPr lang="el-GR" sz="1900" dirty="0"/>
                  <a:t>​: πίνακας με τα </a:t>
                </a:r>
                <a14:m>
                  <m:oMath xmlns:m="http://schemas.openxmlformats.org/officeDocument/2006/math">
                    <m:r>
                      <a:rPr lang="el-GR" sz="19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l-GR" sz="19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1900" dirty="0"/>
                  <a:t>πρώτα ταξινομημένα </a:t>
                </a:r>
                <a:r>
                  <a:rPr lang="el-GR" sz="1900" dirty="0" err="1"/>
                  <a:t>ιδιοδιανύσματα</a:t>
                </a:r>
                <a:r>
                  <a:rPr lang="el-GR" sz="1900" dirty="0"/>
                  <a:t>.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l-GR" sz="1900" i="1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l-GR" sz="1900" dirty="0"/>
                  <a:t>: νέα αναπαράσταση των δεδομένων σε </a:t>
                </a:r>
                <a14:m>
                  <m:oMath xmlns:m="http://schemas.openxmlformats.org/officeDocument/2006/math">
                    <m:r>
                      <a:rPr lang="el-GR" sz="19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l-GR" sz="19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l-GR" sz="1900" dirty="0"/>
                  <a:t>διαστάσεις.</a:t>
                </a:r>
              </a:p>
              <a:p>
                <a:pPr lvl="0"/>
                <a:r>
                  <a:rPr lang="el-GR" sz="1900" dirty="0"/>
                  <a:t>Όταν </a:t>
                </a:r>
                <a14:m>
                  <m:oMath xmlns:m="http://schemas.openxmlformats.org/officeDocument/2006/math">
                    <m:r>
                      <a:rPr lang="el-GR" sz="19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l-GR" sz="19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l-GR" sz="19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l-GR" sz="1900" dirty="0"/>
                  <a:t>, επιτυγχάνεται μείωση διαστάσεων.</a:t>
                </a:r>
              </a:p>
              <a:p>
                <a:pPr lvl="0"/>
                <a:endParaRPr lang="el-GR" sz="1400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52912147-AD8B-41F1-8CA4-93937AE04D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9350" y="1622746"/>
                <a:ext cx="10636280" cy="5408676"/>
              </a:xfrm>
              <a:blipFill>
                <a:blip r:embed="rId3"/>
                <a:stretch>
                  <a:fillRect l="-745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Εικόνα 5">
            <a:extLst>
              <a:ext uri="{FF2B5EF4-FFF2-40B4-BE49-F238E27FC236}">
                <a16:creationId xmlns:a16="http://schemas.microsoft.com/office/drawing/2014/main" id="{92295848-1A77-295C-31E8-3F0350AE3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2248" y="2036616"/>
            <a:ext cx="2722732" cy="1392384"/>
          </a:xfrm>
          <a:prstGeom prst="rect">
            <a:avLst/>
          </a:prstGeom>
        </p:spPr>
      </p:pic>
      <p:pic>
        <p:nvPicPr>
          <p:cNvPr id="8" name="Εικόνα 7">
            <a:extLst>
              <a:ext uri="{FF2B5EF4-FFF2-40B4-BE49-F238E27FC236}">
                <a16:creationId xmlns:a16="http://schemas.microsoft.com/office/drawing/2014/main" id="{20AB63E4-8BBA-0F6C-ABF9-68A3B2C2FC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6939" y="4172121"/>
            <a:ext cx="2442470" cy="1753568"/>
          </a:xfrm>
          <a:prstGeom prst="rect">
            <a:avLst/>
          </a:prstGeom>
        </p:spPr>
      </p:pic>
      <p:pic>
        <p:nvPicPr>
          <p:cNvPr id="10" name="Εικόνα 9">
            <a:extLst>
              <a:ext uri="{FF2B5EF4-FFF2-40B4-BE49-F238E27FC236}">
                <a16:creationId xmlns:a16="http://schemas.microsoft.com/office/drawing/2014/main" id="{44B75105-96BF-2F37-5033-20D82792FA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642" y="4764518"/>
            <a:ext cx="1781803" cy="656886"/>
          </a:xfrm>
          <a:prstGeom prst="rect">
            <a:avLst/>
          </a:prstGeom>
        </p:spPr>
      </p:pic>
      <p:cxnSp>
        <p:nvCxnSpPr>
          <p:cNvPr id="5" name="Γραμμή σύνδεσης: Γωνιώδης 4">
            <a:extLst>
              <a:ext uri="{FF2B5EF4-FFF2-40B4-BE49-F238E27FC236}">
                <a16:creationId xmlns:a16="http://schemas.microsoft.com/office/drawing/2014/main" id="{2AD86295-77D0-BF4D-460B-2A6891445294}"/>
              </a:ext>
            </a:extLst>
          </p:cNvPr>
          <p:cNvCxnSpPr/>
          <p:nvPr/>
        </p:nvCxnSpPr>
        <p:spPr>
          <a:xfrm>
            <a:off x="7845136" y="4327084"/>
            <a:ext cx="1781803" cy="84758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Γραμμή σύνδεσης: Γωνιώδης 11">
            <a:extLst>
              <a:ext uri="{FF2B5EF4-FFF2-40B4-BE49-F238E27FC236}">
                <a16:creationId xmlns:a16="http://schemas.microsoft.com/office/drawing/2014/main" id="{FFCBD6F2-352B-697B-CFD1-617E9F1CF720}"/>
              </a:ext>
            </a:extLst>
          </p:cNvPr>
          <p:cNvCxnSpPr/>
          <p:nvPr/>
        </p:nvCxnSpPr>
        <p:spPr>
          <a:xfrm>
            <a:off x="5278582" y="1891145"/>
            <a:ext cx="3678382" cy="41563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496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5F75E6-9591-FE0D-62FA-B0BECC21D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4E03322-9B73-C6F9-F5C2-FF727A5E5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797E52-FF5C-60B6-0831-85235001E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7A1DDB-DD1D-7B73-AC9F-2F092D2B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755227-4FF5-A597-6CD6-50A1EAF3C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0C3D8A6-9F83-CC2F-DEC4-862B83B2A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5B81AB7-AF7C-B56B-EC7B-69BC52FF5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7" y="294538"/>
            <a:ext cx="10808204" cy="1033669"/>
          </a:xfrm>
        </p:spPr>
        <p:txBody>
          <a:bodyPr rtlCol="0">
            <a:normAutofit/>
          </a:bodyPr>
          <a:lstStyle/>
          <a:p>
            <a:r>
              <a:rPr lang="el-GR" sz="3200" dirty="0">
                <a:solidFill>
                  <a:schemeClr val="bg1"/>
                </a:solidFill>
              </a:rPr>
              <a:t>Η μέθοδος </a:t>
            </a:r>
            <a:r>
              <a:rPr lang="en-US" sz="3200" dirty="0">
                <a:solidFill>
                  <a:schemeClr val="bg1"/>
                </a:solidFill>
              </a:rPr>
              <a:t>LDA:</a:t>
            </a:r>
            <a:endParaRPr lang="el-GR" sz="3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D3754129-33B9-8511-801B-7F4A7D0E3D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9218" y="1328207"/>
                <a:ext cx="10636280" cy="5408676"/>
              </a:xfrm>
            </p:spPr>
            <p:txBody>
              <a:bodyPr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l-GR" sz="2200" b="1" i="1" u="sng" dirty="0">
                    <a:solidFill>
                      <a:schemeClr val="accent1"/>
                    </a:solidFill>
                  </a:rPr>
                  <a:t>Οργάνωση δεδομένων και ετικετών:</a:t>
                </a:r>
              </a:p>
              <a:p>
                <a14:m>
                  <m:oMath xmlns:m="http://schemas.openxmlformats.org/officeDocument/2006/math">
                    <m:r>
                      <a:rPr lang="el-GR" sz="2000" b="1">
                        <a:latin typeface="Cambria Math" panose="02040503050406030204" pitchFamily="18" charset="0"/>
                      </a:rPr>
                      <m:t>𝐗</m:t>
                    </m:r>
                    <m:r>
                      <a:rPr lang="el-GR" sz="2000" b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l-GR" sz="2000" b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2000" b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l-GR" sz="2000" b="1">
                            <a:latin typeface="Cambria Math" panose="02040503050406030204" pitchFamily="18" charset="0"/>
                          </a:rPr>
                          <m:t>𝐧</m:t>
                        </m:r>
                        <m:r>
                          <a:rPr lang="el-GR" sz="2000" b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l-GR" sz="2000" b="1">
                            <a:latin typeface="Cambria Math" panose="02040503050406030204" pitchFamily="18" charset="0"/>
                          </a:rPr>
                          <m:t>𝐩</m:t>
                        </m:r>
                      </m:sup>
                    </m:sSup>
                    <m:r>
                      <a:rPr lang="el-GR" sz="2000" b="1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l-GR" sz="2000" dirty="0"/>
                  <a:t>πίνακας χαρακτηριστικών.</a:t>
                </a:r>
              </a:p>
              <a:p>
                <a:pPr lvl="0"/>
                <a:r>
                  <a:rPr lang="el-GR" sz="2000" dirty="0"/>
                  <a:t>\(y=(y_1,\</a:t>
                </a:r>
                <a:r>
                  <a:rPr lang="el-GR" sz="2000" dirty="0" err="1"/>
                  <a:t>ldots,y_n</a:t>
                </a:r>
                <a:r>
                  <a:rPr lang="el-GR" sz="2000" dirty="0"/>
                  <a:t>)^T\) : ετικέτα κατηγορίας κάθε παρατήρησης.</a:t>
                </a:r>
              </a:p>
              <a:p>
                <a:pPr lvl="0"/>
                <a:r>
                  <a:rPr lang="el-GR" sz="2000" dirty="0"/>
                  <a:t>Η LDA αξιοποιεί τις γνωστές ετικέτες για τον διαχωρισμό των κατηγοριών.</a:t>
                </a:r>
                <a:endParaRPr lang="el-GR" sz="1900" dirty="0"/>
              </a:p>
              <a:p>
                <a:pPr marL="0" indent="0">
                  <a:buNone/>
                </a:pPr>
                <a:r>
                  <a:rPr lang="el-GR" sz="2200" b="1" i="1" u="sng" dirty="0" err="1">
                    <a:solidFill>
                      <a:schemeClr val="accent1"/>
                    </a:solidFill>
                  </a:rPr>
                  <a:t>Προεπεξεργασία</a:t>
                </a:r>
                <a:r>
                  <a:rPr lang="el-GR" sz="2200" b="1" i="1" u="sng" dirty="0">
                    <a:solidFill>
                      <a:schemeClr val="accent1"/>
                    </a:solidFill>
                  </a:rPr>
                  <a:t>:</a:t>
                </a:r>
              </a:p>
              <a:p>
                <a:pPr lvl="0"/>
                <a:r>
                  <a:rPr lang="el-GR" sz="2000" dirty="0"/>
                  <a:t>Έλεγχος ελλειπουσών τιμών και τυποποίηση, όπου απαιτείται.</a:t>
                </a:r>
              </a:p>
              <a:p>
                <a:pPr lvl="0"/>
                <a:r>
                  <a:rPr lang="el-GR" sz="2000" dirty="0"/>
                  <a:t>Η τυποποίηση περιορίζει τη δυσανάλογη επίδραση χαρακτηριστικών με διαφορετικές κλίμακες.</a:t>
                </a:r>
              </a:p>
              <a:p>
                <a:pPr marL="0" indent="0">
                  <a:buNone/>
                </a:pPr>
                <a:r>
                  <a:rPr lang="el-GR" sz="2200" b="1" i="1" u="sng" dirty="0">
                    <a:solidFill>
                      <a:schemeClr val="accent1"/>
                    </a:solidFill>
                  </a:rPr>
                  <a:t>Διανύσματα Μέσων:</a:t>
                </a:r>
              </a:p>
              <a:p>
                <a:pPr lvl="0"/>
                <a:r>
                  <a:rPr lang="el-GR" sz="2000" dirty="0"/>
                  <a:t>Το διάνυσμα μέσων κάθε κατηγορίας περιγράφει το κέντρο των παρατηρήσεών της.</a:t>
                </a:r>
              </a:p>
              <a:p>
                <a:pPr lvl="0"/>
                <a:r>
                  <a:rPr lang="el-GR" sz="2000" dirty="0"/>
                  <a:t>Τα κέντρα χρησιμοποιούνται για τον προσδιορισμό του διαχωρισμού μεταξύ των κατηγοριών.</a:t>
                </a:r>
              </a:p>
            </p:txBody>
          </p:sp>
        </mc:Choice>
        <mc:Fallback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D3754129-33B9-8511-801B-7F4A7D0E3D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218" y="1328207"/>
                <a:ext cx="10636280" cy="5408676"/>
              </a:xfrm>
              <a:blipFill>
                <a:blip r:embed="rId3"/>
                <a:stretch>
                  <a:fillRect l="-745"/>
                </a:stretch>
              </a:blipFill>
            </p:spPr>
            <p:txBody>
              <a:bodyPr/>
              <a:lstStyle/>
              <a:p>
                <a:r>
                  <a:rPr lang="el-G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Εικόνα 6">
            <a:extLst>
              <a:ext uri="{FF2B5EF4-FFF2-40B4-BE49-F238E27FC236}">
                <a16:creationId xmlns:a16="http://schemas.microsoft.com/office/drawing/2014/main" id="{2DC1C921-2A40-E0B9-F415-616DA8A20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47" y="2647748"/>
            <a:ext cx="2580588" cy="367973"/>
          </a:xfrm>
          <a:prstGeom prst="rect">
            <a:avLst/>
          </a:prstGeom>
        </p:spPr>
      </p:pic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62D8A13D-08FB-2A0B-1BF3-2F2693CECA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5332" y="3344099"/>
            <a:ext cx="1840990" cy="815137"/>
          </a:xfrm>
          <a:prstGeom prst="rect">
            <a:avLst/>
          </a:prstGeom>
        </p:spPr>
      </p:pic>
      <p:cxnSp>
        <p:nvCxnSpPr>
          <p:cNvPr id="20" name="Ευθύγραμμο βέλος σύνδεσης 19">
            <a:extLst>
              <a:ext uri="{FF2B5EF4-FFF2-40B4-BE49-F238E27FC236}">
                <a16:creationId xmlns:a16="http://schemas.microsoft.com/office/drawing/2014/main" id="{F624E1A3-5641-963E-C4A0-1AD70A5334BB}"/>
              </a:ext>
            </a:extLst>
          </p:cNvPr>
          <p:cNvCxnSpPr/>
          <p:nvPr/>
        </p:nvCxnSpPr>
        <p:spPr>
          <a:xfrm flipV="1">
            <a:off x="7345837" y="3774772"/>
            <a:ext cx="1894886" cy="384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Εικόνα 21">
            <a:extLst>
              <a:ext uri="{FF2B5EF4-FFF2-40B4-BE49-F238E27FC236}">
                <a16:creationId xmlns:a16="http://schemas.microsoft.com/office/drawing/2014/main" id="{1C3CD586-9AEF-BD20-C5FC-F4820821F1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7200" y="5079874"/>
            <a:ext cx="1736596" cy="81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193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ED6645-A538-4900-77B0-80084AE83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79CD7E0-4D93-C709-E57C-0F92F957D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DE444A-7E31-7F59-EC56-FEDABA817F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377FD0-0C44-4203-AC40-6E8B1D833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CDA75A-5EFA-694C-D1BC-6CDD71891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401D61-6BE5-5A89-3F44-79B4091E1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CD75EACE-22E6-7FD5-F665-9FC7DADB6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7" y="294538"/>
            <a:ext cx="10808204" cy="1033669"/>
          </a:xfrm>
        </p:spPr>
        <p:txBody>
          <a:bodyPr rtlCol="0">
            <a:normAutofit/>
          </a:bodyPr>
          <a:lstStyle/>
          <a:p>
            <a:r>
              <a:rPr lang="el-GR" sz="3200" dirty="0">
                <a:solidFill>
                  <a:schemeClr val="bg1"/>
                </a:solidFill>
              </a:rPr>
              <a:t>Η μέθοδος </a:t>
            </a:r>
            <a:r>
              <a:rPr lang="en-US" sz="3200" dirty="0">
                <a:solidFill>
                  <a:schemeClr val="bg1"/>
                </a:solidFill>
              </a:rPr>
              <a:t>LDA:</a:t>
            </a:r>
            <a:endParaRPr lang="el-GR" sz="3000" dirty="0">
              <a:solidFill>
                <a:schemeClr val="bg1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C82785C-CC92-CAAD-0B40-7D1F08A6C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576" y="1503528"/>
            <a:ext cx="12191997" cy="5408676"/>
          </a:xfrm>
        </p:spPr>
        <p:txBody>
          <a:bodyPr rtlCol="0" anchor="ctr">
            <a:normAutofit lnSpcReduction="10000"/>
          </a:bodyPr>
          <a:lstStyle/>
          <a:p>
            <a:pPr marL="0" indent="0">
              <a:buNone/>
            </a:pPr>
            <a:r>
              <a:rPr lang="el-GR" sz="2200" b="1" i="1" u="sng" dirty="0">
                <a:solidFill>
                  <a:schemeClr val="accent1"/>
                </a:solidFill>
              </a:rPr>
              <a:t>Υπολογισμός πινάκων </a:t>
            </a:r>
            <a:r>
              <a:rPr lang="el-GR" sz="2200" b="1" i="1" u="sng" dirty="0" err="1">
                <a:solidFill>
                  <a:schemeClr val="accent1"/>
                </a:solidFill>
              </a:rPr>
              <a:t>ενδοταξικής</a:t>
            </a:r>
            <a:r>
              <a:rPr lang="el-GR" sz="2200" b="1" i="1" u="sng" dirty="0">
                <a:solidFill>
                  <a:schemeClr val="accent1"/>
                </a:solidFill>
              </a:rPr>
              <a:t> και μεταξύ των τάξεων διαφοράς:</a:t>
            </a:r>
          </a:p>
          <a:p>
            <a:r>
              <a:rPr lang="el-GR" sz="2000" i="1" u="sng" dirty="0">
                <a:solidFill>
                  <a:schemeClr val="accent1"/>
                </a:solidFill>
              </a:rPr>
              <a:t>Στόχος:</a:t>
            </a:r>
            <a:r>
              <a:rPr lang="el-GR" sz="2000" dirty="0"/>
              <a:t> Εντοπισμός κατευθύνσεων που περιορίζουν τη διασπορά στο εσωτερικό των κατηγοριών και μεγιστοποιούν τον διαχωρισμό μεταξύ τους.</a:t>
            </a:r>
            <a:endParaRPr lang="el-GR" sz="1900" dirty="0"/>
          </a:p>
          <a:p>
            <a:pPr marL="0" indent="0">
              <a:buNone/>
            </a:pPr>
            <a:r>
              <a:rPr lang="el-GR" sz="2200" b="1" i="1" u="sng" dirty="0">
                <a:solidFill>
                  <a:schemeClr val="accent1"/>
                </a:solidFill>
              </a:rPr>
              <a:t>Προσδιορισμός διακριτικών κατευθύνσεων:</a:t>
            </a:r>
          </a:p>
          <a:p>
            <a:pPr marL="0" indent="0">
              <a:buNone/>
            </a:pPr>
            <a:r>
              <a:rPr lang="el-GR" sz="2000" dirty="0"/>
              <a:t>Η LDA αναζητά κατευθύνσεις προβολής που επιτυγχάνουν τον καλύτερο δυνατό διαχωρισμό μεταξύ των κατηγοριών.</a:t>
            </a:r>
          </a:p>
          <a:p>
            <a:pPr marL="0" indent="0">
              <a:buNone/>
            </a:pPr>
            <a:endParaRPr lang="el-GR" sz="2000" dirty="0"/>
          </a:p>
          <a:p>
            <a:pPr lvl="0"/>
            <a:r>
              <a:rPr lang="en-US" sz="2000" b="1" i="1" dirty="0"/>
              <a:t>v</a:t>
            </a:r>
            <a:r>
              <a:rPr lang="el-GR" sz="2000" dirty="0"/>
              <a:t>: διακριτική κατεύθυνση (</a:t>
            </a:r>
            <a:r>
              <a:rPr lang="el-GR" sz="2000" dirty="0" err="1"/>
              <a:t>ιδιοδιάνυσμα</a:t>
            </a:r>
            <a:r>
              <a:rPr lang="el-GR" sz="2000" dirty="0"/>
              <a:t>).</a:t>
            </a:r>
          </a:p>
          <a:p>
            <a:pPr lvl="0"/>
            <a:r>
              <a:rPr lang="el-GR" sz="2000" b="1" i="1" dirty="0"/>
              <a:t>λ</a:t>
            </a:r>
            <a:r>
              <a:rPr lang="el-GR" sz="2000" dirty="0"/>
              <a:t>: </a:t>
            </a:r>
            <a:r>
              <a:rPr lang="el-GR" sz="2000" dirty="0" err="1"/>
              <a:t>ιδιοτιμή</a:t>
            </a:r>
            <a:r>
              <a:rPr lang="el-GR" sz="2000" dirty="0"/>
              <a:t> που σχετίζεται με την αποτελεσματικότητα της κατεύθυνσης διαχωρισμού. </a:t>
            </a:r>
          </a:p>
          <a:p>
            <a:pPr marL="0" lvl="0" indent="0">
              <a:buNone/>
            </a:pPr>
            <a:r>
              <a:rPr lang="el-GR" sz="2200" b="1" i="1" u="sng" dirty="0">
                <a:solidFill>
                  <a:schemeClr val="accent1"/>
                </a:solidFill>
              </a:rPr>
              <a:t>Επιλογή διακριτικών συνιστωσών:</a:t>
            </a:r>
          </a:p>
          <a:p>
            <a:r>
              <a:rPr lang="el-GR" sz="2000" dirty="0"/>
              <a:t>Οι </a:t>
            </a:r>
            <a:r>
              <a:rPr lang="el-GR" sz="2000" dirty="0" err="1"/>
              <a:t>ιδιοτιμές</a:t>
            </a:r>
            <a:r>
              <a:rPr lang="el-GR" sz="2000" dirty="0"/>
              <a:t> ταξινομούνται κατά φθίνουσα σειρά και επιλέγονται τα </a:t>
            </a:r>
            <a:r>
              <a:rPr lang="el-GR" sz="2000" dirty="0" err="1"/>
              <a:t>ιδιοδιανύσματα</a:t>
            </a:r>
            <a:r>
              <a:rPr lang="el-GR" sz="2000" dirty="0"/>
              <a:t> που αντιστοιχούν στις μεγαλύτερες </a:t>
            </a:r>
            <a:r>
              <a:rPr lang="el-GR" sz="2000" dirty="0" err="1"/>
              <a:t>ιδιοτιμές</a:t>
            </a:r>
            <a:r>
              <a:rPr lang="el-GR" sz="2000" dirty="0"/>
              <a:t>. Έτσι, επιλέγονται οι κατευθύνσεις που συμβάλλουν περισσότερο στον διαχωρισμό των κατηγοριών. Τα επιλεγμένα </a:t>
            </a:r>
            <a:r>
              <a:rPr lang="el-GR" sz="2000" dirty="0" err="1"/>
              <a:t>ιδιοδιανύσματα</a:t>
            </a:r>
            <a:r>
              <a:rPr lang="el-GR" sz="2000" dirty="0"/>
              <a:t> σχηματίζουν τον πίνακα</a:t>
            </a:r>
            <a:r>
              <a:rPr lang="el-GR" sz="2000" b="1" i="1" dirty="0"/>
              <a:t> W.</a:t>
            </a:r>
          </a:p>
          <a:p>
            <a:pPr lvl="0"/>
            <a:r>
              <a:rPr lang="el-GR" sz="2000" dirty="0"/>
              <a:t>Μέγιστος αριθμός διακριτικών συνιστωσών: </a:t>
            </a:r>
          </a:p>
          <a:p>
            <a:pPr lvl="0"/>
            <a:r>
              <a:rPr lang="el-GR" sz="2000" dirty="0"/>
              <a:t>Μετασχηματισμός των δεδομένων μέσω του τύπου:</a:t>
            </a: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6261219E-D09D-EBA9-731E-0248597F3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013" y="3582002"/>
            <a:ext cx="1906872" cy="412782"/>
          </a:xfrm>
          <a:prstGeom prst="rect">
            <a:avLst/>
          </a:prstGeom>
        </p:spPr>
      </p:pic>
      <p:pic>
        <p:nvPicPr>
          <p:cNvPr id="8" name="Εικόνα 7">
            <a:extLst>
              <a:ext uri="{FF2B5EF4-FFF2-40B4-BE49-F238E27FC236}">
                <a16:creationId xmlns:a16="http://schemas.microsoft.com/office/drawing/2014/main" id="{D2F53C36-B891-79D0-3D05-AA43746E5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4836" y="6013519"/>
            <a:ext cx="1505358" cy="314545"/>
          </a:xfrm>
          <a:prstGeom prst="rect">
            <a:avLst/>
          </a:prstGeom>
        </p:spPr>
      </p:pic>
      <p:pic>
        <p:nvPicPr>
          <p:cNvPr id="10" name="Εικόνα 9">
            <a:extLst>
              <a:ext uri="{FF2B5EF4-FFF2-40B4-BE49-F238E27FC236}">
                <a16:creationId xmlns:a16="http://schemas.microsoft.com/office/drawing/2014/main" id="{0EFCC160-23C4-8FA0-F56C-3F3E8CA26E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3316" y="6405518"/>
            <a:ext cx="1200010" cy="26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717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FA356-73A3-7717-4C62-3B58C8587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50DED2D-655F-D2B8-ADE8-E77D66CD0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8C3EF4-2975-E167-32B5-FFE7EE2CF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FBD7AE-48EC-0357-4FAE-E9048542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26DE5A-55FD-0D71-376D-BE2A630C5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EE551B-FDBF-3AEA-956C-18C691BC4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19BCF6F-4396-E473-08DC-B8B58305F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5C4B4E5-C95E-8884-1C8C-D8072821C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75" y="-3562615"/>
            <a:ext cx="4519023" cy="8128528"/>
          </a:xfrm>
        </p:spPr>
        <p:txBody>
          <a:bodyPr rtlCol="0" anchor="b">
            <a:normAutofit/>
          </a:bodyPr>
          <a:lstStyle/>
          <a:p>
            <a:pPr algn="r" rtl="0"/>
            <a:r>
              <a:rPr lang="el-GR" sz="4000" dirty="0">
                <a:solidFill>
                  <a:srgbClr val="FFFFFF"/>
                </a:solidFill>
              </a:rPr>
              <a:t>Εφαρμογή:</a:t>
            </a:r>
            <a:br>
              <a:rPr lang="el-GR" sz="4000" dirty="0">
                <a:solidFill>
                  <a:srgbClr val="FFFFFF"/>
                </a:solidFill>
              </a:rPr>
            </a:br>
            <a:endParaRPr lang="el-GR" sz="4000" dirty="0">
              <a:solidFill>
                <a:srgbClr val="FFFFFF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B397976-BA5A-293C-5ECD-F6BA606EB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2011" y="309091"/>
            <a:ext cx="6002196" cy="6495782"/>
          </a:xfrm>
        </p:spPr>
        <p:txBody>
          <a:bodyPr rtlCol="0" anchor="ctr">
            <a:normAutofit lnSpcReduction="10000"/>
          </a:bodyPr>
          <a:lstStyle/>
          <a:p>
            <a:pPr marL="0" indent="0">
              <a:buNone/>
            </a:pPr>
            <a:r>
              <a:rPr lang="el-GR" sz="2200" b="1" i="1" u="sng" dirty="0" err="1">
                <a:solidFill>
                  <a:schemeClr val="accent1"/>
                </a:solidFill>
                <a:latin typeface="+mj-lt"/>
              </a:rPr>
              <a:t>Dataset</a:t>
            </a:r>
            <a:r>
              <a:rPr lang="el-GR" sz="2200" b="1" i="1" u="sng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el-GR" sz="2200" b="1" i="1" u="sng" dirty="0" err="1">
                <a:solidFill>
                  <a:schemeClr val="accent1"/>
                </a:solidFill>
                <a:latin typeface="+mj-lt"/>
              </a:rPr>
              <a:t>Breast</a:t>
            </a:r>
            <a:r>
              <a:rPr lang="el-GR" sz="2200" b="1" i="1" u="sng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el-GR" sz="2200" b="1" i="1" u="sng" dirty="0" err="1">
                <a:solidFill>
                  <a:schemeClr val="accent1"/>
                </a:solidFill>
                <a:latin typeface="+mj-lt"/>
              </a:rPr>
              <a:t>Cancer</a:t>
            </a:r>
            <a:r>
              <a:rPr lang="el-GR" sz="2200" b="1" i="1" u="sng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el-GR" sz="2200" b="1" i="1" u="sng" dirty="0" err="1">
                <a:solidFill>
                  <a:schemeClr val="accent1"/>
                </a:solidFill>
                <a:latin typeface="+mj-lt"/>
              </a:rPr>
              <a:t>Wisconsin</a:t>
            </a:r>
            <a:r>
              <a:rPr lang="el-GR" sz="2200" b="1" i="1" u="sng" dirty="0">
                <a:solidFill>
                  <a:schemeClr val="accent1"/>
                </a:solidFill>
                <a:latin typeface="+mj-lt"/>
              </a:rPr>
              <a:t> (</a:t>
            </a:r>
            <a:r>
              <a:rPr lang="el-GR" sz="2200" b="1" i="1" u="sng" dirty="0" err="1">
                <a:solidFill>
                  <a:schemeClr val="accent1"/>
                </a:solidFill>
                <a:latin typeface="+mj-lt"/>
              </a:rPr>
              <a:t>Diagnostic</a:t>
            </a:r>
            <a:r>
              <a:rPr lang="el-GR" sz="2200" b="1" i="1" u="sng" dirty="0">
                <a:solidFill>
                  <a:schemeClr val="accent1"/>
                </a:solidFill>
                <a:latin typeface="+mj-lt"/>
              </a:rPr>
              <a:t>):</a:t>
            </a:r>
          </a:p>
          <a:p>
            <a:pPr lvl="0"/>
            <a:r>
              <a:rPr lang="el-GR" sz="1800" dirty="0"/>
              <a:t>569 δείγματα καρκίνων του μαστού και 30 αριθμητικά χαρακτηριστικά ανά δείγμα </a:t>
            </a:r>
            <a:r>
              <a:rPr lang="el-GR" sz="1800" dirty="0">
                <a:sym typeface="Wingdings" panose="05000000000000000000" pitchFamily="2" charset="2"/>
              </a:rPr>
              <a:t> </a:t>
            </a:r>
            <a:r>
              <a:rPr lang="el-GR" sz="1800" dirty="0"/>
              <a:t>προκύπτουν από ψηφιοποιημένες εικόνες κυτταρικών πυρήνων.</a:t>
            </a:r>
          </a:p>
          <a:p>
            <a:pPr lvl="0"/>
            <a:r>
              <a:rPr lang="el-GR" sz="1800" dirty="0"/>
              <a:t>Κάθε δείγμα χαρακτηρίζεται ως καλοήθες (B) ή κακοήθες (M).</a:t>
            </a:r>
          </a:p>
          <a:p>
            <a:pPr lvl="0"/>
            <a:r>
              <a:rPr lang="el-GR" sz="1800" dirty="0"/>
              <a:t>Πηγή: UCI </a:t>
            </a:r>
            <a:r>
              <a:rPr lang="el-GR" sz="1800" dirty="0" err="1"/>
              <a:t>Machine</a:t>
            </a:r>
            <a:r>
              <a:rPr lang="el-GR" sz="1800" dirty="0"/>
              <a:t> </a:t>
            </a:r>
            <a:r>
              <a:rPr lang="el-GR" sz="1800" dirty="0" err="1"/>
              <a:t>Learning</a:t>
            </a:r>
            <a:r>
              <a:rPr lang="el-GR" sz="1800" dirty="0"/>
              <a:t> </a:t>
            </a:r>
            <a:r>
              <a:rPr lang="el-GR" sz="1800" dirty="0" err="1"/>
              <a:t>Repository</a:t>
            </a:r>
            <a:r>
              <a:rPr lang="el-GR" sz="1800" dirty="0"/>
              <a:t>.</a:t>
            </a:r>
          </a:p>
          <a:p>
            <a:pPr marL="0" indent="0">
              <a:buNone/>
            </a:pPr>
            <a:endParaRPr lang="el-GR" sz="2000" b="1" i="1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l-GR" sz="2200" b="1" i="1" u="sng" dirty="0">
                <a:solidFill>
                  <a:schemeClr val="accent1"/>
                </a:solidFill>
              </a:rPr>
              <a:t>Υλοποίηση σε </a:t>
            </a:r>
            <a:r>
              <a:rPr lang="en-US" sz="2200" b="1" i="1" u="sng" dirty="0">
                <a:solidFill>
                  <a:schemeClr val="accent1"/>
                </a:solidFill>
              </a:rPr>
              <a:t>Python</a:t>
            </a:r>
            <a:r>
              <a:rPr lang="el-GR" sz="2200" b="1" i="1" u="sng" dirty="0">
                <a:solidFill>
                  <a:schemeClr val="accent1"/>
                </a:solidFill>
              </a:rPr>
              <a:t>:</a:t>
            </a:r>
          </a:p>
          <a:p>
            <a:pPr lvl="0"/>
            <a:r>
              <a:rPr lang="el-GR" sz="1800" dirty="0"/>
              <a:t>Χρήση της βιβλιοθήκης </a:t>
            </a:r>
            <a:r>
              <a:rPr lang="el-GR" sz="1800" dirty="0" err="1"/>
              <a:t>scikit-learn</a:t>
            </a:r>
            <a:r>
              <a:rPr lang="el-GR" sz="1800" dirty="0"/>
              <a:t>.</a:t>
            </a:r>
          </a:p>
          <a:p>
            <a:pPr lvl="0"/>
            <a:r>
              <a:rPr lang="el-GR" sz="1800" dirty="0"/>
              <a:t>Τυποποίηση των χαρακτηριστικών πριν από την εφαρμογή των μεθόδων.</a:t>
            </a:r>
          </a:p>
          <a:p>
            <a:pPr lvl="0"/>
            <a:r>
              <a:rPr lang="el-GR" sz="1800" dirty="0"/>
              <a:t>Εφαρμογή PCA για μείωση διαστάσεων και διατήρηση της συνολικής διακύμανσης.</a:t>
            </a:r>
          </a:p>
          <a:p>
            <a:pPr lvl="0"/>
            <a:r>
              <a:rPr lang="el-GR" sz="1800" dirty="0"/>
              <a:t>Εφαρμογή LDA για μείωση διαστάσεων και διαχωρισμό των δύο κατηγοριών.</a:t>
            </a:r>
          </a:p>
          <a:p>
            <a:pPr marL="0" indent="0">
              <a:buNone/>
            </a:pPr>
            <a:endParaRPr lang="el-GR" sz="2200" b="1" i="1" u="sng" dirty="0">
              <a:solidFill>
                <a:schemeClr val="accent1"/>
              </a:solidFill>
              <a:latin typeface="+mj-lt"/>
            </a:endParaRPr>
          </a:p>
          <a:p>
            <a:pPr marL="0" indent="0">
              <a:buNone/>
            </a:pPr>
            <a:r>
              <a:rPr lang="el-GR" sz="2000" i="1" u="sng" dirty="0">
                <a:solidFill>
                  <a:schemeClr val="accent1"/>
                </a:solidFill>
              </a:rPr>
              <a:t>Στόχος:</a:t>
            </a:r>
            <a:r>
              <a:rPr lang="el-GR" sz="2000" dirty="0">
                <a:solidFill>
                  <a:schemeClr val="accent1"/>
                </a:solidFill>
              </a:rPr>
              <a:t> </a:t>
            </a:r>
            <a:r>
              <a:rPr lang="el-GR" sz="1800" dirty="0"/>
              <a:t>Σύγκριση των δύο μεθόδων ως προς την αναπαράσταση των δεδομένων και την ανάδειξη των διαφορών μεταξύ των διαγνώσεων.</a:t>
            </a:r>
          </a:p>
        </p:txBody>
      </p:sp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F4EFF3BA-4075-991D-A1D9-FFA5AF66AA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31" t="1067" r="9273" b="-1067"/>
          <a:stretch>
            <a:fillRect/>
          </a:stretch>
        </p:blipFill>
        <p:spPr>
          <a:xfrm>
            <a:off x="217535" y="4539262"/>
            <a:ext cx="2722608" cy="2067912"/>
          </a:xfrm>
          <a:prstGeom prst="rect">
            <a:avLst/>
          </a:prstGeom>
        </p:spPr>
      </p:pic>
      <p:pic>
        <p:nvPicPr>
          <p:cNvPr id="15" name="Εικόνα 14">
            <a:extLst>
              <a:ext uri="{FF2B5EF4-FFF2-40B4-BE49-F238E27FC236}">
                <a16:creationId xmlns:a16="http://schemas.microsoft.com/office/drawing/2014/main" id="{81286EED-3B43-8768-6FA5-B8A425C3F9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46"/>
          <a:stretch>
            <a:fillRect/>
          </a:stretch>
        </p:blipFill>
        <p:spPr>
          <a:xfrm>
            <a:off x="203858" y="217037"/>
            <a:ext cx="2764736" cy="20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343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D1437-3E1D-ADB3-CD22-65A5BC63F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1F4A790-F977-6596-4A95-A9195662E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96E866-2157-9EA2-F07C-7E85522C5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684BCA-3D9F-14FD-0F2B-C2B6CD807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72F78ED-B306-4053-7BE2-863E23D11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6CDD13-7151-570F-FED6-AEF3FB88D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282DA29-3D77-7F87-8025-6E344CA33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7" y="294538"/>
            <a:ext cx="10808204" cy="1033669"/>
          </a:xfrm>
        </p:spPr>
        <p:txBody>
          <a:bodyPr rtlCol="0">
            <a:normAutofit/>
          </a:bodyPr>
          <a:lstStyle/>
          <a:p>
            <a:r>
              <a:rPr lang="el-GR" sz="3200" dirty="0">
                <a:solidFill>
                  <a:schemeClr val="bg1"/>
                </a:solidFill>
              </a:rPr>
              <a:t>Αποτελέσματα και ερμηνεία εφαρμογής </a:t>
            </a:r>
            <a:r>
              <a:rPr lang="en-US" sz="3200" dirty="0">
                <a:solidFill>
                  <a:schemeClr val="bg1"/>
                </a:solidFill>
              </a:rPr>
              <a:t>PCA: </a:t>
            </a:r>
            <a:endParaRPr lang="el-GR" sz="3000" dirty="0">
              <a:solidFill>
                <a:schemeClr val="bg1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5B263DD-11FC-C1E5-E8DE-25C17AA3D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472" y="1150511"/>
            <a:ext cx="4929355" cy="6141028"/>
          </a:xfrm>
        </p:spPr>
        <p:txBody>
          <a:bodyPr rtlCol="0" anchor="ctr">
            <a:normAutofit/>
          </a:bodyPr>
          <a:lstStyle/>
          <a:p>
            <a:pPr marL="0" indent="0">
              <a:buNone/>
            </a:pPr>
            <a:r>
              <a:rPr lang="el-GR" sz="2200" b="1" i="1" u="sng" dirty="0">
                <a:solidFill>
                  <a:schemeClr val="accent1"/>
                </a:solidFill>
              </a:rPr>
              <a:t>Μείωση Διαστάσεων:</a:t>
            </a:r>
          </a:p>
          <a:p>
            <a:pPr marL="0" indent="0">
              <a:buNone/>
            </a:pPr>
            <a:r>
              <a:rPr lang="el-GR" sz="2000" dirty="0"/>
              <a:t>Μέσω της ανάλυσης που πραγματοποιήθηκε αποδείχτηκε ότι:</a:t>
            </a:r>
          </a:p>
          <a:p>
            <a:r>
              <a:rPr lang="el-GR" sz="2000" dirty="0"/>
              <a:t>Οι δύο πρώτες κύριες συνιστώσες (PC1, PC2) εξηγούν αθροιστικά το 63,24% της συνολικής διακύμανσης.</a:t>
            </a:r>
          </a:p>
          <a:p>
            <a:pPr lvl="0"/>
            <a:r>
              <a:rPr lang="el-GR" sz="2000" dirty="0"/>
              <a:t>Οι 10 πρώτες συνιστώσες διατηρούν το 95,16% της διακύμανσης, ενώ η προσθήκη περισσότερων συνιστωσών προσφέρει όλο και μικρότερο όφελος</a:t>
            </a:r>
            <a:r>
              <a:rPr lang="en-US" sz="2000" dirty="0"/>
              <a:t> </a:t>
            </a:r>
            <a:r>
              <a:rPr lang="el-GR" sz="2000" dirty="0"/>
              <a:t>στην αύξηση της αθροιστικής διακύμανσης, άρα </a:t>
            </a:r>
            <a:r>
              <a:rPr lang="el-GR" sz="2000" dirty="0" err="1"/>
              <a:t>πετυχαίνεται</a:t>
            </a:r>
            <a:r>
              <a:rPr lang="el-GR" sz="2000" dirty="0"/>
              <a:t>:</a:t>
            </a:r>
            <a:r>
              <a:rPr lang="el-GR" sz="2000" dirty="0">
                <a:sym typeface="Wingdings" panose="05000000000000000000" pitchFamily="2" charset="2"/>
              </a:rPr>
              <a:t>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l-GR" sz="2000" dirty="0"/>
              <a:t>Μείωση από 30 σε 10 διαστάσεις (δηλαδή μείωση κατά 66,7%).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l-GR" sz="2000" dirty="0"/>
              <a:t>Απώλεια κατά 4,84% της συνολικής διακύμανσης.</a:t>
            </a: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D01896B8-7127-0CDF-40AE-33A592A76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749" y="2308997"/>
            <a:ext cx="6971693" cy="383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517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0AA2E-681E-13AD-9766-0584BE245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4239C86-5123-7C52-88A5-072C50548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C33EEC-B391-6B2B-574B-B2BA3EB9B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8657CF-87E4-611F-9887-0DC11CB86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8B3715-F624-0EF4-5A19-0AE993C2D8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B4E84A-7637-EE97-81A8-4518404F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E1957C5-7E57-46F7-B7B4-07C75DD00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7" y="294538"/>
            <a:ext cx="10808204" cy="1033669"/>
          </a:xfrm>
        </p:spPr>
        <p:txBody>
          <a:bodyPr rtlCol="0">
            <a:normAutofit/>
          </a:bodyPr>
          <a:lstStyle/>
          <a:p>
            <a:r>
              <a:rPr lang="el-GR" sz="3200" dirty="0">
                <a:solidFill>
                  <a:schemeClr val="bg1"/>
                </a:solidFill>
              </a:rPr>
              <a:t>Αποτελέσματα και ερμηνεία εφαρμογής </a:t>
            </a:r>
            <a:r>
              <a:rPr lang="en-US" sz="3200" dirty="0">
                <a:solidFill>
                  <a:schemeClr val="bg1"/>
                </a:solidFill>
              </a:rPr>
              <a:t>PCA: </a:t>
            </a:r>
            <a:endParaRPr lang="el-GR" sz="3000" dirty="0">
              <a:solidFill>
                <a:schemeClr val="bg1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AD89B9D-3CEF-3BA1-BF50-5B0D2547A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472" y="1583007"/>
            <a:ext cx="4613564" cy="5406260"/>
          </a:xfrm>
        </p:spPr>
        <p:txBody>
          <a:bodyPr rtlCol="0" anchor="ctr">
            <a:normAutofit lnSpcReduction="10000"/>
          </a:bodyPr>
          <a:lstStyle/>
          <a:p>
            <a:pPr marL="0" indent="0">
              <a:buNone/>
            </a:pPr>
            <a:r>
              <a:rPr lang="el-GR" sz="2200" b="1" i="1" u="sng" dirty="0" err="1">
                <a:solidFill>
                  <a:schemeClr val="accent1"/>
                </a:solidFill>
              </a:rPr>
              <a:t>Οπτικοποίηση</a:t>
            </a:r>
            <a:r>
              <a:rPr lang="el-GR" sz="2200" b="1" i="1" u="sng" dirty="0">
                <a:solidFill>
                  <a:schemeClr val="accent1"/>
                </a:solidFill>
              </a:rPr>
              <a:t>:</a:t>
            </a:r>
          </a:p>
          <a:p>
            <a:pPr lvl="0"/>
            <a:r>
              <a:rPr lang="el-GR" sz="2000" dirty="0"/>
              <a:t>Η PC1 εξηγεί το 44,27% και η PC2 το 18,97% της συνολικής διακύμανσης.</a:t>
            </a:r>
          </a:p>
          <a:p>
            <a:pPr lvl="0"/>
            <a:r>
              <a:rPr lang="el-GR" sz="2000" dirty="0"/>
              <a:t>Τα δείγματα </a:t>
            </a:r>
            <a:r>
              <a:rPr lang="el-GR" sz="2000" dirty="0" err="1"/>
              <a:t>καλοήθων</a:t>
            </a:r>
            <a:r>
              <a:rPr lang="el-GR" sz="2000" dirty="0"/>
              <a:t> όγκων συγκεντρώνονται κυρίως σε αρνητικές τιμές της PC1, ενώ τα κακοήθη παρουσιάζουν μεγαλύτερη διασπορά προς θετικές τιμές.</a:t>
            </a:r>
          </a:p>
          <a:p>
            <a:pPr lvl="0"/>
            <a:r>
              <a:rPr lang="el-GR" sz="2000" dirty="0"/>
              <a:t>Επικάλυψη μεταξύ των δύο κατηγοριών </a:t>
            </a:r>
            <a:r>
              <a:rPr lang="el-GR" sz="2000" dirty="0">
                <a:sym typeface="Wingdings" panose="05000000000000000000" pitchFamily="2" charset="2"/>
              </a:rPr>
              <a:t> Οι δύο πρώτες κύριες συνιστώσες δεν διαχωρίζουν απόλυτα τα δείγματα βάσει της διάγνωσης</a:t>
            </a:r>
          </a:p>
          <a:p>
            <a:pPr lvl="0"/>
            <a:endParaRPr lang="el-GR" sz="2000" dirty="0">
              <a:sym typeface="Wingdings" panose="05000000000000000000" pitchFamily="2" charset="2"/>
            </a:endParaRPr>
          </a:p>
          <a:p>
            <a:pPr marL="0" lvl="0" indent="0">
              <a:buNone/>
            </a:pPr>
            <a:r>
              <a:rPr lang="el-GR" sz="2000" i="1" u="sng" dirty="0">
                <a:solidFill>
                  <a:schemeClr val="accent1"/>
                </a:solidFill>
              </a:rPr>
              <a:t>Συμπέρασμα:</a:t>
            </a:r>
            <a:r>
              <a:rPr lang="el-GR" sz="2000" i="1" dirty="0">
                <a:solidFill>
                  <a:schemeClr val="accent1"/>
                </a:solidFill>
              </a:rPr>
              <a:t> </a:t>
            </a:r>
            <a:r>
              <a:rPr lang="el-GR" sz="2000" dirty="0"/>
              <a:t>Η διατήρηση της συνολικής διακύμανσης δεν εξασφαλίζει από μόνη της σαφή διαχωρισμό των διαγνώσεων.</a:t>
            </a: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923CBC24-DFC0-3618-A63D-1EEA171140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656" y="1885279"/>
            <a:ext cx="7046872" cy="467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936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7DDE31-ECE5-E883-8ABA-E1262D3B1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868334A-23DB-662C-9310-0310031D4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581935-4BB4-643F-B19B-9353B0436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D7FB895-FAA6-50D6-8993-42D880A94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60584C-AF29-4DAD-AB5D-F2C3E6C6E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B03007-33A7-9351-9F1F-3CD393783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92234D31-5CF3-6427-0DFC-5AD767BE4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7" y="294538"/>
            <a:ext cx="10808204" cy="1033669"/>
          </a:xfrm>
        </p:spPr>
        <p:txBody>
          <a:bodyPr rtlCol="0">
            <a:normAutofit/>
          </a:bodyPr>
          <a:lstStyle/>
          <a:p>
            <a:r>
              <a:rPr lang="el-GR" sz="3200" dirty="0">
                <a:solidFill>
                  <a:schemeClr val="bg1"/>
                </a:solidFill>
              </a:rPr>
              <a:t>Αποτελέσματα και ερμηνεία εφαρμογής </a:t>
            </a:r>
            <a:r>
              <a:rPr lang="en-US" sz="3200" dirty="0">
                <a:solidFill>
                  <a:schemeClr val="bg1"/>
                </a:solidFill>
              </a:rPr>
              <a:t>LDA: </a:t>
            </a:r>
            <a:endParaRPr lang="el-GR" sz="3000" dirty="0">
              <a:solidFill>
                <a:schemeClr val="bg1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4E471B3-4295-9300-4028-1EDBA51AF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472" y="1583007"/>
            <a:ext cx="4613564" cy="5406260"/>
          </a:xfrm>
        </p:spPr>
        <p:txBody>
          <a:bodyPr rtlCol="0" anchor="ctr">
            <a:normAutofit/>
          </a:bodyPr>
          <a:lstStyle/>
          <a:p>
            <a:pPr marL="0" indent="0">
              <a:buNone/>
            </a:pPr>
            <a:r>
              <a:rPr lang="el-GR" sz="2200" b="1" i="1" u="sng" dirty="0">
                <a:solidFill>
                  <a:schemeClr val="accent1"/>
                </a:solidFill>
              </a:rPr>
              <a:t>Προβολή στη διακριτική συνιστώσα:</a:t>
            </a:r>
          </a:p>
          <a:p>
            <a:pPr lvl="0"/>
            <a:r>
              <a:rPr lang="el-GR" sz="2000" dirty="0"/>
              <a:t>Τα 30 αρχικά χαρακτηριστικά μετασχηματίζονται σε 1 διακριτική συνιστώσα. Αναμενόμενο, καθώς υπάρχουν δύο κατηγορίες διάγνωσης.</a:t>
            </a:r>
          </a:p>
          <a:p>
            <a:pPr lvl="0"/>
            <a:r>
              <a:rPr lang="el-GR" sz="2000" dirty="0"/>
              <a:t>Τα καλοήθη δείγματα συγκεντρώνονται κυρίως σε αρνητικές τιμές της LD1, ενώ τα κακοήθη σε θετικές.</a:t>
            </a:r>
          </a:p>
          <a:p>
            <a:pPr lvl="0"/>
            <a:r>
              <a:rPr lang="el-GR" sz="2000" dirty="0"/>
              <a:t>Παρατηρείται ελαφριά επικάλυψη μεταξύ των δύο κατανομών.</a:t>
            </a:r>
          </a:p>
          <a:p>
            <a:pPr marL="0" indent="0">
              <a:buNone/>
            </a:pPr>
            <a:r>
              <a:rPr lang="el-GR" sz="2000" i="1" u="sng" dirty="0">
                <a:solidFill>
                  <a:schemeClr val="accent1"/>
                </a:solidFill>
              </a:rPr>
              <a:t>Συμπέρασμα:</a:t>
            </a:r>
            <a:r>
              <a:rPr lang="el-GR" sz="2000" i="1" dirty="0">
                <a:solidFill>
                  <a:schemeClr val="accent1"/>
                </a:solidFill>
              </a:rPr>
              <a:t> </a:t>
            </a:r>
            <a:r>
              <a:rPr lang="el-GR" sz="2000" dirty="0"/>
              <a:t>Η LDA αναδεικνύει σαφέστερο διαχωρισμό μεταξύ των δύο κατηγοριών στη νέα διάσταση.</a:t>
            </a:r>
          </a:p>
        </p:txBody>
      </p:sp>
      <p:pic>
        <p:nvPicPr>
          <p:cNvPr id="8" name="Εικόνα 7">
            <a:extLst>
              <a:ext uri="{FF2B5EF4-FFF2-40B4-BE49-F238E27FC236}">
                <a16:creationId xmlns:a16="http://schemas.microsoft.com/office/drawing/2014/main" id="{78E6064E-ED67-60CA-037A-72CC329C58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9036" y="1950643"/>
            <a:ext cx="6958365" cy="461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068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0C012-F84A-84C8-E2AF-F492BE3C4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F65DC65-9A95-DB6A-25BE-5886CBE9D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F675D6-A90F-74CB-7266-45E5A0016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B1BE37-296B-2D70-94F4-BEC25DA2A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25C1370-4699-DCA8-83F7-48B88DA40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0A2E26-AE39-DC21-934A-BA9A89166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2C8AA601-3B4C-EF40-8C0A-3D8FED684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7" y="294538"/>
            <a:ext cx="10808204" cy="1033669"/>
          </a:xfrm>
        </p:spPr>
        <p:txBody>
          <a:bodyPr rtlCol="0">
            <a:normAutofit/>
          </a:bodyPr>
          <a:lstStyle/>
          <a:p>
            <a:r>
              <a:rPr lang="el-GR" sz="3200" dirty="0">
                <a:solidFill>
                  <a:schemeClr val="bg1"/>
                </a:solidFill>
              </a:rPr>
              <a:t>Αξιολόγηση της ταξινόμησης </a:t>
            </a:r>
            <a:r>
              <a:rPr lang="en-US" sz="3200" dirty="0">
                <a:solidFill>
                  <a:schemeClr val="bg1"/>
                </a:solidFill>
              </a:rPr>
              <a:t>LDA: </a:t>
            </a:r>
            <a:endParaRPr lang="el-GR" sz="3000" dirty="0">
              <a:solidFill>
                <a:schemeClr val="bg1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6A9B50F-3D7C-2731-ED03-890F4506A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472" y="1583007"/>
            <a:ext cx="4187537" cy="5274993"/>
          </a:xfrm>
        </p:spPr>
        <p:txBody>
          <a:bodyPr rtlCol="0" anchor="ctr">
            <a:normAutofit/>
          </a:bodyPr>
          <a:lstStyle/>
          <a:p>
            <a:pPr marL="0" indent="0">
              <a:buNone/>
            </a:pPr>
            <a:r>
              <a:rPr lang="el-GR" sz="2200" b="1" i="1" u="sng" dirty="0">
                <a:solidFill>
                  <a:schemeClr val="accent1"/>
                </a:solidFill>
              </a:rPr>
              <a:t>Πειραματική Διαδικασία:</a:t>
            </a:r>
          </a:p>
          <a:p>
            <a:pPr lvl="0"/>
            <a:r>
              <a:rPr lang="el-GR" sz="2000" dirty="0"/>
              <a:t>Διαχωρισμός δεδομένων: 80% εκπαίδευση και 20% έλεγχος, με διατήρηση της αναλογίας των δύο κατηγοριών σε κάθε σύνολο.</a:t>
            </a:r>
          </a:p>
          <a:p>
            <a:pPr lvl="0"/>
            <a:r>
              <a:rPr lang="el-GR" sz="2000" dirty="0"/>
              <a:t>Σύνολο ελέγχου: 114 δείγματα.</a:t>
            </a:r>
          </a:p>
          <a:p>
            <a:pPr lvl="0"/>
            <a:endParaRPr lang="el-GR" sz="2000" dirty="0"/>
          </a:p>
          <a:p>
            <a:pPr marL="0" indent="0">
              <a:buNone/>
            </a:pPr>
            <a:r>
              <a:rPr lang="el-GR" sz="2200" b="1" i="1" u="sng" dirty="0">
                <a:solidFill>
                  <a:schemeClr val="accent1"/>
                </a:solidFill>
              </a:rPr>
              <a:t>Αποτελέσματα:</a:t>
            </a:r>
          </a:p>
          <a:p>
            <a:r>
              <a:rPr lang="el-GR" sz="2000" dirty="0"/>
              <a:t>Διαχωρισμός δεδομένων: 80% εκπαίδευση και 20% έλεγχος, με διατήρηση της αναλογίας των δύο κατηγοριών σε κάθε σύνολο.</a:t>
            </a:r>
          </a:p>
          <a:p>
            <a:r>
              <a:rPr lang="el-GR" sz="2000" dirty="0"/>
              <a:t>Σύνολο ελέγχου: 114 δείγματα.</a:t>
            </a:r>
          </a:p>
          <a:p>
            <a:pPr lvl="0"/>
            <a:endParaRPr lang="el-GR" sz="2000" dirty="0"/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5AC1CC6B-CB49-C597-5670-EED1E4561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915" y="1734664"/>
            <a:ext cx="5657484" cy="2004621"/>
          </a:xfrm>
          <a:prstGeom prst="rect">
            <a:avLst/>
          </a:prstGeom>
        </p:spPr>
      </p:pic>
      <p:sp>
        <p:nvSpPr>
          <p:cNvPr id="6" name="Ορθογώνιο: Στρογγύλεμα γωνιών 5">
            <a:extLst>
              <a:ext uri="{FF2B5EF4-FFF2-40B4-BE49-F238E27FC236}">
                <a16:creationId xmlns:a16="http://schemas.microsoft.com/office/drawing/2014/main" id="{6EA271ED-64EB-D15E-5676-C465BB20F94C}"/>
              </a:ext>
            </a:extLst>
          </p:cNvPr>
          <p:cNvSpPr/>
          <p:nvPr/>
        </p:nvSpPr>
        <p:spPr>
          <a:xfrm>
            <a:off x="4564413" y="3876517"/>
            <a:ext cx="3609109" cy="28170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u="sng" dirty="0"/>
              <a:t>Accuracy: 95,61%</a:t>
            </a:r>
          </a:p>
          <a:p>
            <a:pPr algn="ctr"/>
            <a:r>
              <a:rPr lang="el-GR" b="1" i="1" dirty="0"/>
              <a:t>Συνολική Ακρίβεια</a:t>
            </a:r>
            <a:endParaRPr lang="en-US" b="1" i="1" dirty="0"/>
          </a:p>
          <a:p>
            <a:pPr algn="ctr"/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dirty="0"/>
              <a:t>Το ποσοστό της ορθότητας των προβλέψεων.</a:t>
            </a:r>
          </a:p>
        </p:txBody>
      </p:sp>
      <p:sp>
        <p:nvSpPr>
          <p:cNvPr id="9" name="Ορθογώνιο: Στρογγύλεμα γωνιών 8">
            <a:extLst>
              <a:ext uri="{FF2B5EF4-FFF2-40B4-BE49-F238E27FC236}">
                <a16:creationId xmlns:a16="http://schemas.microsoft.com/office/drawing/2014/main" id="{4F7C44CB-DD2A-85FB-DC5B-D829A44A7907}"/>
              </a:ext>
            </a:extLst>
          </p:cNvPr>
          <p:cNvSpPr/>
          <p:nvPr/>
        </p:nvSpPr>
        <p:spPr>
          <a:xfrm>
            <a:off x="8437418" y="3889900"/>
            <a:ext cx="3609110" cy="28036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u="sng" dirty="0"/>
              <a:t>Weighted F1: 95,58%</a:t>
            </a:r>
          </a:p>
          <a:p>
            <a:pPr algn="ctr"/>
            <a:r>
              <a:rPr lang="en-US" b="1" i="1" dirty="0"/>
              <a:t>Precision + Recall</a:t>
            </a:r>
          </a:p>
          <a:p>
            <a:pPr algn="ctr"/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i="1" dirty="0"/>
              <a:t>Precision</a:t>
            </a:r>
            <a:r>
              <a:rPr lang="en-US" sz="1600" dirty="0"/>
              <a:t>: </a:t>
            </a:r>
            <a:r>
              <a:rPr lang="el-GR" sz="1600" dirty="0"/>
              <a:t>το ποσοστό των</a:t>
            </a:r>
            <a:r>
              <a:rPr lang="en-US" sz="1600" dirty="0"/>
              <a:t> </a:t>
            </a:r>
            <a:r>
              <a:rPr lang="el-GR" sz="1600" dirty="0"/>
              <a:t>δειγμάτων που όντως ανήκει στην κατηγορία που τοποθετήθηκε.</a:t>
            </a: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i="1" dirty="0"/>
              <a:t>Recall</a:t>
            </a:r>
            <a:r>
              <a:rPr lang="en-US" sz="1600" dirty="0"/>
              <a:t>: </a:t>
            </a:r>
            <a:r>
              <a:rPr lang="el-GR" sz="1600" dirty="0"/>
              <a:t>το ποσοστό των δειγμάτων μιας κατηγορίας που ταξινομήθηκε σωστά.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72561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0E0B55-B170-3AB7-11A7-F8504ACC6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A2E64F8-E442-F9F4-1B3B-671067B35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E6BDAA-034A-2606-3698-D9E0EA53B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EBBA3A-536C-DAAB-E99F-B3FB90CC1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68AD76-8F26-807D-84A4-3C47BC33B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6E518E0-46AE-480A-A6C8-D5556BB6B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0D097D45-8FA4-4D1F-2687-DC9762B48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7" y="294538"/>
            <a:ext cx="10808204" cy="1033669"/>
          </a:xfrm>
        </p:spPr>
        <p:txBody>
          <a:bodyPr rtlCol="0">
            <a:normAutofit/>
          </a:bodyPr>
          <a:lstStyle/>
          <a:p>
            <a:r>
              <a:rPr lang="el-GR" sz="3200" dirty="0">
                <a:solidFill>
                  <a:schemeClr val="bg1"/>
                </a:solidFill>
              </a:rPr>
              <a:t>Αποτελέσματα και ερμηνεία εφαρμογής </a:t>
            </a:r>
            <a:r>
              <a:rPr lang="en-US" sz="3200" dirty="0">
                <a:solidFill>
                  <a:schemeClr val="bg1"/>
                </a:solidFill>
              </a:rPr>
              <a:t>LDA: </a:t>
            </a:r>
            <a:endParaRPr lang="el-GR" sz="3000" dirty="0">
              <a:solidFill>
                <a:schemeClr val="bg1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62F83DC-B69D-66C0-F2F3-D3CC5453F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071" y="1506682"/>
            <a:ext cx="4817579" cy="5503367"/>
          </a:xfrm>
        </p:spPr>
        <p:txBody>
          <a:bodyPr rtlCol="0" anchor="ctr">
            <a:normAutofit/>
          </a:bodyPr>
          <a:lstStyle/>
          <a:p>
            <a:pPr marL="0" indent="0">
              <a:buNone/>
            </a:pPr>
            <a:r>
              <a:rPr lang="el-GR" sz="2200" b="1" i="1" u="sng" dirty="0">
                <a:solidFill>
                  <a:schemeClr val="accent1"/>
                </a:solidFill>
              </a:rPr>
              <a:t>Ανάλυση Σφαλμάτων – Πίνακας Σύγχυσης:</a:t>
            </a:r>
          </a:p>
          <a:p>
            <a:pPr lvl="0"/>
            <a:r>
              <a:rPr lang="el-GR" sz="2000" dirty="0"/>
              <a:t>4 κακοήθεις όγκοι ταξινομήθηκαν λανθασμένα ως καλοήθεις. Για αυτό η ανάκληση των κακοήθων όγκων είναι χαμηλότερη.</a:t>
            </a:r>
          </a:p>
          <a:p>
            <a:pPr lvl="0"/>
            <a:r>
              <a:rPr lang="el-GR" sz="2000" dirty="0"/>
              <a:t>1 καλοήθης όγκος ταξινομήθηκε λανθασμένα ως κακοήθης.</a:t>
            </a:r>
          </a:p>
          <a:p>
            <a:pPr lvl="0"/>
            <a:r>
              <a:rPr lang="el-GR" sz="2000" dirty="0"/>
              <a:t>Τα υπόλοιπα 109 από τα 114 δείγματα ταξινομήθηκαν σωστά.</a:t>
            </a:r>
          </a:p>
          <a:p>
            <a:pPr lvl="0"/>
            <a:endParaRPr lang="el-GR" sz="2000" dirty="0"/>
          </a:p>
          <a:p>
            <a:pPr marL="0" indent="0">
              <a:buNone/>
            </a:pPr>
            <a:r>
              <a:rPr lang="el-GR" sz="2000" i="1" u="sng" dirty="0">
                <a:solidFill>
                  <a:schemeClr val="accent1"/>
                </a:solidFill>
              </a:rPr>
              <a:t>Συμπέρασμα:</a:t>
            </a:r>
            <a:r>
              <a:rPr lang="el-GR" sz="2000" i="1" dirty="0">
                <a:solidFill>
                  <a:schemeClr val="accent1"/>
                </a:solidFill>
              </a:rPr>
              <a:t> </a:t>
            </a:r>
            <a:r>
              <a:rPr lang="el-GR" sz="2000" dirty="0"/>
              <a:t>Παρά την υψηλή συνολική επίδοση, τα σφάλματα ταξινόμησης δεν εξαλείφονται, ειδικά η μη αναγνώριση κάποιων κακοήθων περιπτώσεων.</a:t>
            </a:r>
          </a:p>
        </p:txBody>
      </p:sp>
      <p:pic>
        <p:nvPicPr>
          <p:cNvPr id="5" name="Εικόνα 4">
            <a:extLst>
              <a:ext uri="{FF2B5EF4-FFF2-40B4-BE49-F238E27FC236}">
                <a16:creationId xmlns:a16="http://schemas.microsoft.com/office/drawing/2014/main" id="{90DF46AF-356B-4501-1BE3-5A9E46256E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024" y="1642029"/>
            <a:ext cx="6386983" cy="519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592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818734-613A-CADF-F9F2-9BAD65023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45A2C19-A9B1-748C-DC1F-2CDD79F6A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AB018D-C8F1-13A1-9A3C-1E1CC634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D08B0E-A5F6-118A-A1EF-30F49870C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D51C0F-28C5-EEAE-327D-8A9AD3246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B18F109-1CD8-6440-B417-5607C2F2C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6B63FF0A-3AC5-BB2E-D186-3CA0756E6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7" y="294538"/>
            <a:ext cx="10808204" cy="1033669"/>
          </a:xfrm>
        </p:spPr>
        <p:txBody>
          <a:bodyPr rtlCol="0">
            <a:normAutofit/>
          </a:bodyPr>
          <a:lstStyle/>
          <a:p>
            <a:r>
              <a:rPr lang="el-GR" sz="3200" dirty="0">
                <a:solidFill>
                  <a:schemeClr val="bg1"/>
                </a:solidFill>
              </a:rPr>
              <a:t>Συμπεράσματα και Σύγκριση</a:t>
            </a:r>
            <a:endParaRPr lang="el-GR" sz="3000" dirty="0">
              <a:solidFill>
                <a:schemeClr val="bg1"/>
              </a:solidFill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AA316DAB-FD80-90FE-3F8E-38FB01934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346" y="1461046"/>
            <a:ext cx="10355795" cy="5960480"/>
          </a:xfrm>
        </p:spPr>
        <p:txBody>
          <a:bodyPr rtlCol="0" anchor="ctr">
            <a:normAutofit/>
          </a:bodyPr>
          <a:lstStyle/>
          <a:p>
            <a:pPr marL="0" indent="0">
              <a:buNone/>
            </a:pPr>
            <a:endParaRPr lang="en-US" sz="2000" b="1" i="1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2000" b="1" i="1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2000" b="1" i="1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2000" b="1" i="1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2000" b="1" i="1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2000" b="1" i="1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2000" b="1" i="1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l-GR" sz="2000" b="1" i="1" u="sng" dirty="0">
                <a:solidFill>
                  <a:schemeClr val="accent1"/>
                </a:solidFill>
              </a:rPr>
              <a:t>Πειραματικά αποτελέσματα — </a:t>
            </a:r>
            <a:r>
              <a:rPr lang="el-GR" sz="2000" b="1" i="1" u="sng" dirty="0" err="1">
                <a:solidFill>
                  <a:schemeClr val="accent1"/>
                </a:solidFill>
              </a:rPr>
              <a:t>Breast</a:t>
            </a:r>
            <a:r>
              <a:rPr lang="el-GR" sz="2000" b="1" i="1" u="sng" dirty="0">
                <a:solidFill>
                  <a:schemeClr val="accent1"/>
                </a:solidFill>
              </a:rPr>
              <a:t> </a:t>
            </a:r>
            <a:r>
              <a:rPr lang="el-GR" sz="2000" b="1" i="1" u="sng" dirty="0" err="1">
                <a:solidFill>
                  <a:schemeClr val="accent1"/>
                </a:solidFill>
              </a:rPr>
              <a:t>Cancer</a:t>
            </a:r>
            <a:r>
              <a:rPr lang="el-GR" sz="2000" b="1" i="1" u="sng" dirty="0">
                <a:solidFill>
                  <a:schemeClr val="accent1"/>
                </a:solidFill>
              </a:rPr>
              <a:t> </a:t>
            </a:r>
            <a:r>
              <a:rPr lang="el-GR" sz="2000" b="1" i="1" u="sng" dirty="0" err="1">
                <a:solidFill>
                  <a:schemeClr val="accent1"/>
                </a:solidFill>
              </a:rPr>
              <a:t>Wisconsin</a:t>
            </a:r>
            <a:r>
              <a:rPr lang="el-GR" sz="2000" b="1" i="1" u="sng" dirty="0">
                <a:solidFill>
                  <a:schemeClr val="accent1"/>
                </a:solidFill>
              </a:rPr>
              <a:t> </a:t>
            </a:r>
            <a:r>
              <a:rPr lang="en-US" sz="2000" b="1" i="1" u="sng" dirty="0">
                <a:solidFill>
                  <a:schemeClr val="accent1"/>
                </a:solidFill>
              </a:rPr>
              <a:t>Dataset:</a:t>
            </a:r>
            <a:endParaRPr lang="el-GR" sz="2000" b="1" i="1" u="sng" dirty="0">
              <a:solidFill>
                <a:schemeClr val="accent1"/>
              </a:solidFill>
            </a:endParaRPr>
          </a:p>
          <a:p>
            <a:pPr lvl="0"/>
            <a:r>
              <a:rPr lang="el-GR" sz="1800" i="1" u="sng" dirty="0"/>
              <a:t>PCA:</a:t>
            </a:r>
            <a:r>
              <a:rPr lang="en-US" sz="1800" i="1" dirty="0"/>
              <a:t> </a:t>
            </a:r>
            <a:r>
              <a:rPr lang="el-GR" sz="1800" dirty="0"/>
              <a:t>Η προβολή στις δύο πρώτες κύριες συνιστώσες πέτυχε, εκτός από τη μείωση διαστάσεων, την ανάδειξη της επικάλυψης μεταξύ </a:t>
            </a:r>
            <a:r>
              <a:rPr lang="el-GR" sz="1800" dirty="0" err="1"/>
              <a:t>καλοήθων</a:t>
            </a:r>
            <a:r>
              <a:rPr lang="el-GR" sz="1800" dirty="0"/>
              <a:t> και κακοήθων δειγμάτων.</a:t>
            </a:r>
          </a:p>
          <a:p>
            <a:pPr lvl="0"/>
            <a:r>
              <a:rPr lang="el-GR" sz="1800" i="1" u="sng" dirty="0"/>
              <a:t>LDA:</a:t>
            </a:r>
            <a:r>
              <a:rPr lang="el-GR" sz="1800" i="1" dirty="0"/>
              <a:t> </a:t>
            </a:r>
            <a:r>
              <a:rPr lang="el-GR" sz="1800" dirty="0"/>
              <a:t>Η προβολή στη 1 διακριτική διάσταση, εκτός από τη μείωση διαστάσεων, ανέδειξε πιο σαφή διαχωρισμό των δύο κατηγοριών.</a:t>
            </a:r>
          </a:p>
          <a:p>
            <a:pPr marL="0" indent="0">
              <a:buNone/>
            </a:pPr>
            <a:r>
              <a:rPr lang="el-GR" sz="2000" b="1" i="1" u="sng" dirty="0">
                <a:solidFill>
                  <a:schemeClr val="accent1"/>
                </a:solidFill>
              </a:rPr>
              <a:t>Συμπέρασμα</a:t>
            </a:r>
            <a:r>
              <a:rPr lang="en-US" sz="2000" b="1" i="1" u="sng" dirty="0">
                <a:solidFill>
                  <a:schemeClr val="accent1"/>
                </a:solidFill>
              </a:rPr>
              <a:t>:</a:t>
            </a:r>
            <a:r>
              <a:rPr lang="el-GR" sz="2000" b="1" i="1" u="sng" dirty="0">
                <a:solidFill>
                  <a:schemeClr val="accent1"/>
                </a:solidFill>
              </a:rPr>
              <a:t> </a:t>
            </a:r>
            <a:r>
              <a:rPr lang="el-GR" sz="1800" dirty="0"/>
              <a:t>Η καταλληλότερη μέθοδος εξαρτάται από τον στόχο της ανάλυσης και από το αν είναι διαθέσιμες ετικέτες κλάσεων.</a:t>
            </a:r>
          </a:p>
          <a:p>
            <a:pPr lvl="0"/>
            <a:endParaRPr lang="el-G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Ορθογώνιο: Στρογγύλεμα γωνιών 3">
            <a:extLst>
              <a:ext uri="{FF2B5EF4-FFF2-40B4-BE49-F238E27FC236}">
                <a16:creationId xmlns:a16="http://schemas.microsoft.com/office/drawing/2014/main" id="{9E812E27-A93B-0909-9381-3A6113E269C5}"/>
              </a:ext>
            </a:extLst>
          </p:cNvPr>
          <p:cNvSpPr/>
          <p:nvPr/>
        </p:nvSpPr>
        <p:spPr>
          <a:xfrm>
            <a:off x="180753" y="1733107"/>
            <a:ext cx="5050466" cy="271130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2200" b="1" i="1" u="sng" dirty="0"/>
              <a:t>PCA</a:t>
            </a:r>
            <a:r>
              <a:rPr lang="en-US" sz="2200" b="1" i="1" u="sng" dirty="0"/>
              <a:t>:</a:t>
            </a:r>
            <a:endParaRPr lang="el-GR" sz="2200" b="1" i="1" u="sng" dirty="0"/>
          </a:p>
          <a:p>
            <a:r>
              <a:rPr lang="el-GR" dirty="0"/>
              <a:t>• Διατηρεί τη μέγιστη δυνατή συνολική διακύμανση.</a:t>
            </a:r>
          </a:p>
          <a:p>
            <a:r>
              <a:rPr lang="el-GR" dirty="0"/>
              <a:t>• Δεν αξιοποιεί τις ετικέτες των κλάσεων.</a:t>
            </a:r>
          </a:p>
          <a:p>
            <a:r>
              <a:rPr lang="el-GR" dirty="0"/>
              <a:t>• Κατάλληλη για συμπίεση και </a:t>
            </a:r>
            <a:r>
              <a:rPr lang="el-GR" dirty="0" err="1"/>
              <a:t>οπτικοποίηση</a:t>
            </a:r>
            <a:r>
              <a:rPr lang="el-GR" dirty="0"/>
              <a:t> δεδομένων.</a:t>
            </a:r>
          </a:p>
        </p:txBody>
      </p:sp>
      <p:sp>
        <p:nvSpPr>
          <p:cNvPr id="5" name="Ορθογώνιο: Στρογγύλεμα γωνιών 4">
            <a:extLst>
              <a:ext uri="{FF2B5EF4-FFF2-40B4-BE49-F238E27FC236}">
                <a16:creationId xmlns:a16="http://schemas.microsoft.com/office/drawing/2014/main" id="{A6934B8A-73A2-A172-77F0-E81FE778347A}"/>
              </a:ext>
            </a:extLst>
          </p:cNvPr>
          <p:cNvSpPr/>
          <p:nvPr/>
        </p:nvSpPr>
        <p:spPr>
          <a:xfrm>
            <a:off x="6709143" y="1723580"/>
            <a:ext cx="5302103" cy="272082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sz="2000" b="1" i="1" u="sng" dirty="0"/>
              <a:t>LDA</a:t>
            </a:r>
            <a:r>
              <a:rPr lang="en-US" sz="2000" b="1" i="1" u="sng" dirty="0"/>
              <a:t>:</a:t>
            </a:r>
            <a:endParaRPr lang="el-GR" sz="2000" b="1" i="1" u="sng" dirty="0"/>
          </a:p>
          <a:p>
            <a:r>
              <a:rPr lang="el-GR" dirty="0"/>
              <a:t>• Επιδιώκει τον διαχωρισμό των γνωστών κλάσεων.</a:t>
            </a:r>
          </a:p>
          <a:p>
            <a:r>
              <a:rPr lang="el-GR" dirty="0"/>
              <a:t>• Αξιοποιεί τις ετικέτες των κλάσεων.</a:t>
            </a:r>
          </a:p>
          <a:p>
            <a:r>
              <a:rPr lang="el-GR" dirty="0"/>
              <a:t>• Κατάλληλη για ταξινόμηση και διαχωρισμό κατηγοριών.</a:t>
            </a:r>
          </a:p>
        </p:txBody>
      </p:sp>
    </p:spTree>
    <p:extLst>
      <p:ext uri="{BB962C8B-B14F-4D97-AF65-F5344CB8AC3E}">
        <p14:creationId xmlns:p14="http://schemas.microsoft.com/office/powerpoint/2010/main" val="1940961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B33DBF-AC8A-0C8E-7D9A-AE01965FC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C3781ED-B243-C721-D1D2-D71CBFE8E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1EAD0B-A9DB-E801-3546-3CD286365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23A0AE-F269-B923-CEC3-490A56965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CEA83B-1894-4393-107F-3CCC86272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E6D60D-78D1-01AD-EA95-E522987B8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FCC5BE5E-AAB5-7860-16B6-79024D2DE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7" y="294538"/>
            <a:ext cx="10808204" cy="1033669"/>
          </a:xfrm>
        </p:spPr>
        <p:txBody>
          <a:bodyPr rtlCol="0">
            <a:normAutofit/>
          </a:bodyPr>
          <a:lstStyle/>
          <a:p>
            <a:r>
              <a:rPr lang="el-GR" sz="3200" dirty="0">
                <a:solidFill>
                  <a:schemeClr val="bg1"/>
                </a:solidFill>
              </a:rPr>
              <a:t>Βιβλιογραφικές Αναφορές</a:t>
            </a:r>
            <a:endParaRPr lang="el-GR" sz="3000" dirty="0">
              <a:solidFill>
                <a:schemeClr val="bg1"/>
              </a:solidFill>
            </a:endParaRPr>
          </a:p>
        </p:txBody>
      </p:sp>
      <p:sp>
        <p:nvSpPr>
          <p:cNvPr id="7" name="Θέση περιεχομένου 6">
            <a:extLst>
              <a:ext uri="{FF2B5EF4-FFF2-40B4-BE49-F238E27FC236}">
                <a16:creationId xmlns:a16="http://schemas.microsoft.com/office/drawing/2014/main" id="{0FC161F3-24B5-9DA3-5A71-0182C8279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58087"/>
            <a:ext cx="12323135" cy="49760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dirty="0"/>
              <a:t>[1] François de </a:t>
            </a:r>
            <a:r>
              <a:rPr lang="en-US" sz="1700" dirty="0" err="1"/>
              <a:t>Ryckel</a:t>
            </a:r>
            <a:r>
              <a:rPr lang="en-US" sz="1700" dirty="0"/>
              <a:t>. Chapter 12: Case study -- </a:t>
            </a:r>
            <a:r>
              <a:rPr lang="en-US" sz="1700" dirty="0" err="1"/>
              <a:t>wisconsin</a:t>
            </a:r>
            <a:r>
              <a:rPr lang="en-US" sz="1700" dirty="0"/>
              <a:t> breast cancer. Machine Learning</a:t>
            </a:r>
            <a:r>
              <a:rPr lang="el-GR" sz="1700" dirty="0"/>
              <a:t> </a:t>
            </a:r>
            <a:r>
              <a:rPr lang="en-US" sz="1700" dirty="0"/>
              <a:t>with R, February 2019. Published February 23, 2019. Accessed October 13, 2026.</a:t>
            </a:r>
          </a:p>
          <a:p>
            <a:pPr marL="0" indent="0">
              <a:buNone/>
            </a:pPr>
            <a:r>
              <a:rPr lang="en-US" sz="1700" dirty="0"/>
              <a:t>[2] Felipe L. </a:t>
            </a:r>
            <a:r>
              <a:rPr lang="en-US" sz="1700" dirty="0" err="1"/>
              <a:t>Gewers</a:t>
            </a:r>
            <a:r>
              <a:rPr lang="en-US" sz="1700" dirty="0"/>
              <a:t>, Gustavo R. Ferreira, Henrique F. de Arruda, Filipi N. Silva, Cesar H.</a:t>
            </a:r>
            <a:r>
              <a:rPr lang="el-GR" sz="1700" dirty="0"/>
              <a:t> </a:t>
            </a:r>
            <a:r>
              <a:rPr lang="en-US" sz="1700" dirty="0"/>
              <a:t>Comin, Diego R. Amancio, and Luciano da F. Costa. Principal</a:t>
            </a:r>
            <a:r>
              <a:rPr lang="el-GR" sz="1700" dirty="0"/>
              <a:t> </a:t>
            </a:r>
            <a:r>
              <a:rPr lang="en-US" sz="1700" dirty="0"/>
              <a:t>component analysis: A natural approach to data exploration. ACM Computing Surveys, 54(4):70:1--70:34, 2021.</a:t>
            </a:r>
          </a:p>
          <a:p>
            <a:pPr marL="0" indent="0">
              <a:buNone/>
            </a:pPr>
            <a:r>
              <a:rPr lang="en-US" sz="1700" dirty="0"/>
              <a:t>[3] Ian T. Jolliffe and Jorge Cadima. Principal component analysis: a review and recent developments. Philosophical Transactions of the Royal Society A: Mathematical, Physical and Engineering Sciences, 374(2065):20150202, 2016.</a:t>
            </a:r>
          </a:p>
          <a:p>
            <a:pPr marL="0" indent="0">
              <a:buNone/>
            </a:pPr>
            <a:r>
              <a:rPr lang="en-US" sz="1700" dirty="0"/>
              <a:t>[4] Scikit-learn developers. Decomposing signals in components (matrix factorization problems). https://sklearn.org/stable/modules/decomposition.html. Scikit-learn Documentation, accessed October 13, 2026.</a:t>
            </a:r>
          </a:p>
          <a:p>
            <a:pPr marL="0" indent="0">
              <a:buNone/>
            </a:pPr>
            <a:r>
              <a:rPr lang="en-US" sz="1700" dirty="0"/>
              <a:t>[5] Scikit-learn developers. Linear and quadratic discriminant analysis. </a:t>
            </a:r>
            <a:r>
              <a:rPr lang="en-US" sz="1700" dirty="0">
                <a:hlinkClick r:id="rId3"/>
              </a:rPr>
              <a:t>https://scikit-learn.org/</a:t>
            </a:r>
            <a:r>
              <a:rPr lang="en-US" sz="1700" dirty="0"/>
              <a:t> stable/modules/lda_qda.html. Scikit-learn Documentation, accessed October 20, 2026.</a:t>
            </a:r>
          </a:p>
          <a:p>
            <a:pPr marL="0" indent="0">
              <a:buNone/>
            </a:pPr>
            <a:r>
              <a:rPr lang="en-US" sz="1700" dirty="0"/>
              <a:t>[6] Scikit-learn developers. Linear Discriminant Analysis. Official API documentation, accessed October 20, 2026.</a:t>
            </a:r>
          </a:p>
          <a:p>
            <a:pPr marL="0" indent="0">
              <a:buNone/>
            </a:pPr>
            <a:r>
              <a:rPr lang="en-US" sz="1700" dirty="0"/>
              <a:t>[7] Scikit-learn developers. </a:t>
            </a:r>
            <a:r>
              <a:rPr lang="en-US" sz="1700" dirty="0" err="1"/>
              <a:t>sklearn.datasets.load_breast_cancer</a:t>
            </a:r>
            <a:r>
              <a:rPr lang="en-US" sz="1700" dirty="0"/>
              <a:t>. https://scikitlearn.org/stable/modules/generated/sklearn.datasets.load_breast_cancer.html. Scikit-learn Documentation, accessed October 19, 2026.</a:t>
            </a:r>
          </a:p>
          <a:p>
            <a:pPr marL="0" indent="0">
              <a:buNone/>
            </a:pPr>
            <a:r>
              <a:rPr lang="en-US" sz="1700" dirty="0"/>
              <a:t>[8] Alaa Tharwat, Tarek Gaber, </a:t>
            </a:r>
            <a:r>
              <a:rPr lang="en-US" sz="1700" dirty="0" err="1"/>
              <a:t>Abdelhameed</a:t>
            </a:r>
            <a:r>
              <a:rPr lang="en-US" sz="1700" dirty="0"/>
              <a:t> Ibrahim, and Aboul Ella </a:t>
            </a:r>
            <a:r>
              <a:rPr lang="en-US" sz="1700" dirty="0" err="1"/>
              <a:t>Hassanien</a:t>
            </a:r>
            <a:r>
              <a:rPr lang="en-US" sz="1700" dirty="0"/>
              <a:t>. Linear discriminant analysis: A detailed tutorial. AI Communications, 30(2):169--190, 2017.</a:t>
            </a:r>
          </a:p>
          <a:p>
            <a:pPr marL="0" indent="0">
              <a:buNone/>
            </a:pPr>
            <a:r>
              <a:rPr lang="en-US" sz="1700" dirty="0"/>
              <a:t>[9] William Wolberg, </a:t>
            </a:r>
            <a:r>
              <a:rPr lang="en-US" sz="1700" dirty="0" err="1"/>
              <a:t>Olvi</a:t>
            </a:r>
            <a:r>
              <a:rPr lang="en-US" sz="1700" dirty="0"/>
              <a:t> Mangasarian, Nick Street, and W. Street. Breast cancer Wisconsin (diagnostic). UCI Machine Learning Repository, 1993</a:t>
            </a:r>
            <a:r>
              <a:rPr lang="el-GR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1921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Θέμα του Offic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Θέμα του Offic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849</TotalTime>
  <Words>2821</Words>
  <Application>Microsoft Office PowerPoint</Application>
  <PresentationFormat>Ευρεία οθόνη</PresentationFormat>
  <Paragraphs>249</Paragraphs>
  <Slides>18</Slides>
  <Notes>18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6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Cambria Math</vt:lpstr>
      <vt:lpstr>Wingdings</vt:lpstr>
      <vt:lpstr>Θέμα του Office</vt:lpstr>
      <vt:lpstr>Ανάλυση και Συγκριτική Μελέτη των Μεθόδων PCA και LDA</vt:lpstr>
      <vt:lpstr>Εισαγωγή</vt:lpstr>
      <vt:lpstr>Θεωρητικό Υπόβαθρο </vt:lpstr>
      <vt:lpstr>Θεωρητικό Υπόβαθρο</vt:lpstr>
      <vt:lpstr>Ενδοταξική και Μεταξύ των Τάξεων Διασπορά</vt:lpstr>
      <vt:lpstr>Η μέθοδος PCA:</vt:lpstr>
      <vt:lpstr>Η μέθοδος PCA:</vt:lpstr>
      <vt:lpstr>Η μέθοδος PCA:</vt:lpstr>
      <vt:lpstr>Η μέθοδος LDA:</vt:lpstr>
      <vt:lpstr>Η μέθοδος LDA:</vt:lpstr>
      <vt:lpstr>Εφαρμογή: </vt:lpstr>
      <vt:lpstr>Αποτελέσματα και ερμηνεία εφαρμογής PCA: </vt:lpstr>
      <vt:lpstr>Αποτελέσματα και ερμηνεία εφαρμογής PCA: </vt:lpstr>
      <vt:lpstr>Αποτελέσματα και ερμηνεία εφαρμογής LDA: </vt:lpstr>
      <vt:lpstr>Αξιολόγηση της ταξινόμησης LDA: </vt:lpstr>
      <vt:lpstr>Αποτελέσματα και ερμηνεία εφαρμογής LDA: </vt:lpstr>
      <vt:lpstr>Συμπεράσματα και Σύγκριση</vt:lpstr>
      <vt:lpstr>Βιβλιογραφικές Αναφορές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Agapi Kallinikou</dc:creator>
  <cp:lastModifiedBy>Agapi Kallinikou</cp:lastModifiedBy>
  <cp:revision>22</cp:revision>
  <dcterms:created xsi:type="dcterms:W3CDTF">2026-10-13T13:26:14Z</dcterms:created>
  <dcterms:modified xsi:type="dcterms:W3CDTF">2026-10-28T13:47:58Z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